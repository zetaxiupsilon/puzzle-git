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00CC00"/>
    <a:srgbClr val="E60832"/>
    <a:srgbClr val="0033CC"/>
    <a:srgbClr val="CC0000"/>
    <a:srgbClr val="0000FF"/>
    <a:srgbClr val="4E63A8"/>
    <a:srgbClr val="B62851"/>
    <a:srgbClr val="198573"/>
    <a:srgbClr val="68B1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-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22A1EB-37BB-4F35-AAE4-F06C72B6CFB2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4118CA-E3CB-43C1-A379-DB7E46E452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870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4118CA-E3CB-43C1-A379-DB7E46E4528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278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8560D-04BC-745C-CD40-A31260FF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B76F7F-F228-B30F-D158-05F09CE5A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BC09F2-04BB-903A-F514-025594E80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5F1325-6342-B3C5-F46A-6969B9CDE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4118CA-E3CB-43C1-A379-DB7E46E4528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302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A087F-DBAD-C377-C38B-C53A97C05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8731AB-9E6C-DF9C-59D2-BA5CD9640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5D13E-7057-9EBD-8B7D-C7FE1CDCC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6CEEA-F301-2966-8689-D2F1DDFA5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072508-A05C-C521-F0B8-93AA5ED9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544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D2774-7334-750F-9659-72B54E6D3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75F71A-BEA4-FF86-1AEF-319D4FF51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FF6FC1-6F3E-7FB2-E7DB-82B521B4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E8C663-1069-8C9E-9699-379BBBDD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BA227-408E-F982-31C1-295D0B0C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150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0D44C-5DD0-6CAB-1DB3-9498B4C1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4113E1-8F57-97B8-DE66-76AA68267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B1F26C-539A-E59A-C2D0-BFD4197D7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BA1CD3-4BC4-F41F-321D-1C54429CA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D2369D-A229-1A30-993D-063ABCA4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14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AABC1-13EF-6EC4-C2C6-A9CA8AE6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673806-C437-9D47-2514-B62A646C4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6CFDFE-F951-830E-1DA4-6187D016D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D0500E-45C2-33C2-DF98-0F6C40E5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965799-20EC-5E41-8B50-54F2C2CF4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B734CE-8363-9832-D43A-A3EDA24C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333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144517-8BCB-5317-BB24-67E381716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93B214-51E8-CF96-EC8F-E15E741DD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298FA0-B7FA-52E4-BA88-B43E4BAEA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7EE4F9-40B3-FFC7-5A8D-CCA522BA9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4E967D-3A34-26E8-FC9A-07FF2E1C7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47EC85-B1F8-2D9E-5E88-EA2A142BB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BF56E5-9588-5137-504E-E4D4918F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F0B519-0084-AB93-89DB-33ED846C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46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DFAB2-B60B-93EE-56E4-D6EA6BECE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93B4FC-C699-0636-9CA8-893FF485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C11D67-076B-1998-3AC1-B2026325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9E2075-C496-1A8C-F43F-11A3E19B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65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B44D70A-A555-AD70-DE7F-5585E0795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BF6236-8913-B6A1-A3B0-77477E42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8ED83D-1AE7-379F-3BFD-66DE9251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20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72BDE-6EF3-03A7-8A7C-83A16385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00140B-24D1-86A4-5E3E-81561E431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D22BB3-F531-F7ED-E37D-EB0323E6D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B0F922-4C2A-8893-69E0-29D1A69A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A647EE-F0D5-7ACA-316C-52518D06B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6C7D31-0A16-4190-04B8-E7CFB053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84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AE8D3-953F-D5C3-7008-0FB9CF4CD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EA4ED16-555F-A252-DA90-18A1CABD8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13A72E-E33B-D463-D84A-2FAC556C9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3FF961-A602-5871-8855-DAA91D83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F618B3-9D5B-5A47-BC40-1C3AA0DC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CFCD42-53CC-3424-DA97-4D123E17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2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91543-BABF-6087-8DDF-DAECA2BC8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71838F-A2EC-D4CB-2AB9-7CE515993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0C54EE-5839-7699-1AB7-4A532D35C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E08809-E653-B019-5602-5991E8B83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DED42E-1C76-CD2B-818E-20C9CFAF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007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AE51A5-0B51-7F9F-626A-72C3F2CFE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A96868-7996-8D6B-8B74-9051FCABE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4489B-AA41-E15F-B403-A68D00D95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78AFE0-C300-49A8-8CE3-36FEAAFF6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477174-3B60-D08B-0662-AA7D61A3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880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D9C632-9A2C-5F34-A1FE-F540F0922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ADE694-4AA6-1AD3-5237-B04D7EDA7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548698-AF78-F5F3-3569-9E9082E2B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8F7671-E391-4DC9-AA48-464BE702F62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67A067-48AD-A589-AAB4-032615ACF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F0B2FD-98D2-6061-9CF5-6ED54485E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381E43-91DA-434D-B66F-D782AA30F0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63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A10609-CF17-BAFD-D708-1282BDCB06F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2EE5A6B-0AD8-D63F-F84D-52736866CBB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ACBEE3C6-5F3F-E765-B6C3-96B027D33558}"/>
                </a:ext>
              </a:extLst>
            </p:cNvPr>
            <p:cNvSpPr/>
            <p:nvPr/>
          </p:nvSpPr>
          <p:spPr>
            <a:xfrm>
              <a:off x="4288505" y="487959"/>
              <a:ext cx="521110" cy="521110"/>
            </a:xfrm>
            <a:prstGeom prst="ellipse">
              <a:avLst/>
            </a:prstGeom>
            <a:solidFill>
              <a:srgbClr val="D5D3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A13FDE3-E3E0-188D-AE5D-9A56E958786B}"/>
                </a:ext>
              </a:extLst>
            </p:cNvPr>
            <p:cNvSpPr txBox="1"/>
            <p:nvPr/>
          </p:nvSpPr>
          <p:spPr>
            <a:xfrm>
              <a:off x="4839111" y="483041"/>
              <a:ext cx="3146320" cy="62113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谁取的名字那么怪？生意不要了？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📍 </a:t>
              </a:r>
              <a:r>
                <a:rPr lang="zh-CN" altLang="en-US" sz="1400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地沟油大饭店</a:t>
              </a:r>
              <a:endParaRPr lang="en-US" altLang="zh-CN" sz="1400">
                <a:solidFill>
                  <a:schemeClr val="bg1">
                    <a:lumMod val="7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</a:t>
              </a:r>
            </a:p>
            <a:p>
              <a:pPr>
                <a:lnSpc>
                  <a:spcPct val="114000"/>
                </a:lnSpc>
              </a:pP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览：乌拉尔山脉让俄罗斯拥有了什么？ 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lvl="0">
                <a:lnSpc>
                  <a:spcPct val="114000"/>
                </a:lnSpc>
                <a:defRPr/>
              </a:pPr>
              <a:r>
                <a:rPr lang="zh-CN" altLang="en-US" sz="1600" u="sng">
                  <a:solidFill>
                    <a:srgbClr val="0099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海阔天空看世界 分享的文章</a:t>
              </a:r>
              <a:endParaRPr lang="en-US" altLang="zh-CN" sz="1400">
                <a:solidFill>
                  <a:schemeClr val="bg1">
                    <a:lumMod val="7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</a:t>
              </a:r>
            </a:p>
            <a:p>
              <a:pPr algn="r">
                <a:lnSpc>
                  <a:spcPct val="114000"/>
                </a:lnSpc>
              </a:pP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推荐几首音乐，风格跟热门的歌曲很不一样哦。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en-US" altLang="zh-CN" sz="1600" u="sng">
                  <a:solidFill>
                    <a:srgbClr val="0099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Experimental</a:t>
              </a:r>
              <a:r>
                <a:rPr lang="zh-CN" altLang="en-US" sz="1600" u="sng">
                  <a:solidFill>
                    <a:srgbClr val="0099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合集</a:t>
              </a:r>
              <a:r>
                <a:rPr lang="en-US" altLang="zh-CN" sz="1600" u="sng">
                  <a:solidFill>
                    <a:srgbClr val="0099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- </a:t>
              </a:r>
              <a:r>
                <a:rPr lang="zh-CN" altLang="en-US" sz="1600" u="sng">
                  <a:solidFill>
                    <a:srgbClr val="0099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音乐盒</a:t>
              </a:r>
              <a:endParaRPr lang="en-US" altLang="zh-CN" sz="1600" u="sng">
                <a:solidFill>
                  <a:srgbClr val="0099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4</a:t>
              </a:r>
            </a:p>
            <a:p>
              <a:pPr>
                <a:lnSpc>
                  <a:spcPct val="114000"/>
                </a:lnSpc>
              </a:pP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大家吃完饭喜欢立刻坐下，还是先走一走？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u="sng">
                  <a:solidFill>
                    <a:srgbClr val="0099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人人来投票</a:t>
              </a:r>
              <a:endParaRPr lang="en-US" altLang="zh-CN" sz="1600" u="sng">
                <a:solidFill>
                  <a:srgbClr val="0099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4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995406A-3CA7-FB94-C8D2-92228035346A}"/>
                </a:ext>
              </a:extLst>
            </p:cNvPr>
            <p:cNvSpPr/>
            <p:nvPr/>
          </p:nvSpPr>
          <p:spPr>
            <a:xfrm>
              <a:off x="4288505" y="1849726"/>
              <a:ext cx="521110" cy="521110"/>
            </a:xfrm>
            <a:prstGeom prst="ellipse">
              <a:avLst/>
            </a:prstGeom>
            <a:solidFill>
              <a:srgbClr val="6E68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A3C1055-E9BF-DC72-EB94-1D9D8A2A1362}"/>
                </a:ext>
              </a:extLst>
            </p:cNvPr>
            <p:cNvSpPr/>
            <p:nvPr/>
          </p:nvSpPr>
          <p:spPr>
            <a:xfrm>
              <a:off x="4288505" y="3514982"/>
              <a:ext cx="521110" cy="521110"/>
            </a:xfrm>
            <a:prstGeom prst="ellipse">
              <a:avLst/>
            </a:prstGeom>
            <a:solidFill>
              <a:srgbClr val="CB8B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6314C37-9B7B-BE8A-1282-DA1202073BF2}"/>
                </a:ext>
              </a:extLst>
            </p:cNvPr>
            <p:cNvSpPr/>
            <p:nvPr/>
          </p:nvSpPr>
          <p:spPr>
            <a:xfrm>
              <a:off x="4288505" y="5182862"/>
              <a:ext cx="521110" cy="521110"/>
            </a:xfrm>
            <a:prstGeom prst="ellipse">
              <a:avLst/>
            </a:prstGeom>
            <a:solidFill>
              <a:srgbClr val="68B12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964D2D9-D407-68D0-54CA-6781F8B38D7E}"/>
                </a:ext>
              </a:extLst>
            </p:cNvPr>
            <p:cNvSpPr/>
            <p:nvPr/>
          </p:nvSpPr>
          <p:spPr>
            <a:xfrm>
              <a:off x="8339067" y="305079"/>
              <a:ext cx="521110" cy="521110"/>
            </a:xfrm>
            <a:prstGeom prst="ellipse">
              <a:avLst/>
            </a:prstGeom>
            <a:solidFill>
              <a:srgbClr val="1985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6A690B0-FAA3-D25B-D822-4E60283D267F}"/>
                </a:ext>
              </a:extLst>
            </p:cNvPr>
            <p:cNvSpPr txBox="1"/>
            <p:nvPr/>
          </p:nvSpPr>
          <p:spPr>
            <a:xfrm>
              <a:off x="8889673" y="300161"/>
              <a:ext cx="3146320" cy="6456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我家孩子沉迷手机了，把他手机拿了他肯定要跟你急。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u="sng">
                  <a:solidFill>
                    <a:srgbClr val="0099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如何管理孩子看手机的时间？</a:t>
              </a:r>
              <a:endParaRPr lang="en-US" altLang="zh-CN" sz="1600" u="sng">
                <a:solidFill>
                  <a:srgbClr val="0099FF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5</a:t>
              </a:r>
            </a:p>
            <a:p>
              <a:pPr>
                <a:lnSpc>
                  <a:spcPct val="114000"/>
                </a:lnSpc>
              </a:pP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今天在智利吃了甜玉米派。玉米可真是个好东西。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📍 </a:t>
              </a:r>
              <a:r>
                <a:rPr lang="en-US" altLang="zh-CN" sz="1400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Iquique</a:t>
              </a: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5</a:t>
              </a:r>
            </a:p>
            <a:p>
              <a:pPr algn="r">
                <a:lnSpc>
                  <a:spcPct val="114000"/>
                </a:lnSpc>
              </a:pP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老房子后色彩斑斓的鲜花。这座古镇打点得真好看。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📍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南浔古镇</a:t>
              </a: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5</a:t>
              </a:r>
            </a:p>
            <a:p>
              <a:pPr algn="r">
                <a:lnSpc>
                  <a:spcPct val="114000"/>
                </a:lnSpc>
              </a:pP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这个女人我蛮佩服的，真的很勇敢。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u="sng">
                  <a:solidFill>
                    <a:srgbClr val="0099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光明日报 分享的文章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2</a:t>
              </a: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8AA15B99-1164-3DFB-1286-2A0E5AF011C4}"/>
                </a:ext>
              </a:extLst>
            </p:cNvPr>
            <p:cNvSpPr/>
            <p:nvPr/>
          </p:nvSpPr>
          <p:spPr>
            <a:xfrm>
              <a:off x="8339067" y="1966731"/>
              <a:ext cx="521110" cy="521110"/>
            </a:xfrm>
            <a:prstGeom prst="ellipse">
              <a:avLst/>
            </a:prstGeom>
            <a:solidFill>
              <a:srgbClr val="6B48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10F7200-8934-5FE8-361B-6563389FE9EE}"/>
                </a:ext>
              </a:extLst>
            </p:cNvPr>
            <p:cNvSpPr/>
            <p:nvPr/>
          </p:nvSpPr>
          <p:spPr>
            <a:xfrm>
              <a:off x="8339067" y="3598888"/>
              <a:ext cx="521110" cy="521110"/>
            </a:xfrm>
            <a:prstGeom prst="ellipse">
              <a:avLst/>
            </a:prstGeom>
            <a:solidFill>
              <a:srgbClr val="B6285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B20549E-838E-F414-70A0-3CD417A4236D}"/>
                </a:ext>
              </a:extLst>
            </p:cNvPr>
            <p:cNvSpPr/>
            <p:nvPr/>
          </p:nvSpPr>
          <p:spPr>
            <a:xfrm>
              <a:off x="8339067" y="5235960"/>
              <a:ext cx="521110" cy="521110"/>
            </a:xfrm>
            <a:prstGeom prst="ellipse">
              <a:avLst/>
            </a:prstGeom>
            <a:solidFill>
              <a:srgbClr val="4E63A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258B530-4608-AF62-631C-EE9877D0D4C6}"/>
                </a:ext>
              </a:extLst>
            </p:cNvPr>
            <p:cNvSpPr txBox="1"/>
            <p:nvPr/>
          </p:nvSpPr>
          <p:spPr>
            <a:xfrm>
              <a:off x="788549" y="2879160"/>
              <a:ext cx="3146320" cy="3474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4000"/>
                </a:lnSpc>
              </a:pP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楼下新开的咖啡店真火爆！已经排起长龙了。 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lvl="0">
                <a:lnSpc>
                  <a:spcPct val="114000"/>
                </a:lnSpc>
                <a:defRPr/>
              </a:pPr>
              <a:r>
                <a:rPr lang="zh-CN" altLang="en-US" sz="1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📍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热爱咖啡</a:t>
              </a:r>
              <a:endPara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4</a:t>
              </a:r>
            </a:p>
            <a:p>
              <a:pPr algn="r">
                <a:lnSpc>
                  <a:spcPct val="114000"/>
                </a:lnSpc>
              </a:pP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来自院长的安全提醒！千万不要这样做！ 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u="sng">
                  <a:solidFill>
                    <a:srgbClr val="0099F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儿童医院王主任 分享的视频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1</a:t>
              </a: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438931ED-EEAC-BE1B-F160-4DD6A364EDFE}"/>
                </a:ext>
              </a:extLst>
            </p:cNvPr>
            <p:cNvSpPr/>
            <p:nvPr/>
          </p:nvSpPr>
          <p:spPr>
            <a:xfrm>
              <a:off x="237943" y="3158399"/>
              <a:ext cx="521110" cy="521110"/>
            </a:xfrm>
            <a:prstGeom prst="ellipse">
              <a:avLst/>
            </a:prstGeom>
            <a:solidFill>
              <a:srgbClr val="433C9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AC8C249D-4A99-5565-5AD6-7D21E050C36B}"/>
                </a:ext>
              </a:extLst>
            </p:cNvPr>
            <p:cNvSpPr/>
            <p:nvPr/>
          </p:nvSpPr>
          <p:spPr>
            <a:xfrm>
              <a:off x="237943" y="4795143"/>
              <a:ext cx="521110" cy="521110"/>
            </a:xfrm>
            <a:prstGeom prst="ellipse">
              <a:avLst/>
            </a:prstGeom>
            <a:solidFill>
              <a:srgbClr val="ED8A6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D52D45F-6835-B5B7-8B88-1FC6445122F5}"/>
                </a:ext>
              </a:extLst>
            </p:cNvPr>
            <p:cNvSpPr txBox="1"/>
            <p:nvPr/>
          </p:nvSpPr>
          <p:spPr>
            <a:xfrm>
              <a:off x="237943" y="259470"/>
              <a:ext cx="2236510" cy="9456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zh-CN" altLang="en-US" sz="32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匿名留言墙</a:t>
              </a:r>
              <a:endParaRPr lang="en-US" altLang="zh-CN" sz="32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en-US" altLang="zh-CN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by Zeta-Xi-Upsilon</a:t>
              </a:r>
              <a:endParaRPr lang="zh-CN" altLang="en-US" i="1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9E39BFAF-A9D7-02FE-402A-BD7B61DE7F38}"/>
                </a:ext>
              </a:extLst>
            </p:cNvPr>
            <p:cNvSpPr/>
            <p:nvPr/>
          </p:nvSpPr>
          <p:spPr>
            <a:xfrm>
              <a:off x="498498" y="1553497"/>
              <a:ext cx="3146320" cy="1238864"/>
            </a:xfrm>
            <a:prstGeom prst="roundRect">
              <a:avLst>
                <a:gd name="adj" fmla="val 952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发布新留言</a:t>
              </a:r>
              <a:endParaRPr lang="en-US" altLang="zh-CN" sz="1600">
                <a:solidFill>
                  <a:schemeClr val="bg1">
                    <a:lumMod val="6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ctr"/>
              <a:r>
                <a:rPr lang="en-US" altLang="zh-CN" sz="320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+</a:t>
              </a:r>
              <a:br>
                <a:rPr lang="en-US" altLang="zh-CN">
                  <a:solidFill>
                    <a:schemeClr val="bg1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</a:br>
              <a:r>
                <a:rPr lang="zh-CN" altLang="en-US" sz="1200" i="1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想玩？那就点这里！</a:t>
              </a:r>
              <a:r>
                <a:rPr lang="en-US" altLang="zh-CN" sz="1200" i="1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——</a:t>
              </a:r>
              <a:r>
                <a:rPr lang="zh-CN" altLang="en-US" sz="1200" i="1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管理员 </a:t>
              </a:r>
              <a:r>
                <a:rPr lang="en-US" altLang="zh-CN" sz="1200" i="1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1-W</a:t>
              </a:r>
              <a:endParaRPr lang="zh-CN" altLang="en-US" sz="1600" i="1">
                <a:solidFill>
                  <a:schemeClr val="bg1">
                    <a:lumMod val="6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923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8D278-6234-9EE6-4D7C-4C256FA6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4DE71017-BE61-697F-44B0-C32D884042C7}"/>
              </a:ext>
            </a:extLst>
          </p:cNvPr>
          <p:cNvGrpSpPr/>
          <p:nvPr/>
        </p:nvGrpSpPr>
        <p:grpSpPr>
          <a:xfrm>
            <a:off x="0" y="-1"/>
            <a:ext cx="12192000" cy="8416413"/>
            <a:chOff x="0" y="-1"/>
            <a:chExt cx="12192000" cy="841641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61D6F46-FF9A-450E-1F4D-AC9B75CD63E7}"/>
                </a:ext>
              </a:extLst>
            </p:cNvPr>
            <p:cNvSpPr/>
            <p:nvPr/>
          </p:nvSpPr>
          <p:spPr>
            <a:xfrm>
              <a:off x="0" y="-1"/>
              <a:ext cx="12192000" cy="84164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BD6C702C-C1A9-EDC5-6D15-B5489E92F788}"/>
                </a:ext>
              </a:extLst>
            </p:cNvPr>
            <p:cNvSpPr/>
            <p:nvPr/>
          </p:nvSpPr>
          <p:spPr>
            <a:xfrm>
              <a:off x="4288505" y="487959"/>
              <a:ext cx="521110" cy="5211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A204494-0E7E-3CD5-A436-BBDB88504F83}"/>
                </a:ext>
              </a:extLst>
            </p:cNvPr>
            <p:cNvSpPr txBox="1"/>
            <p:nvPr/>
          </p:nvSpPr>
          <p:spPr>
            <a:xfrm>
              <a:off x="4839111" y="483041"/>
              <a:ext cx="3146320" cy="62113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谁取的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名字</a:t>
              </a:r>
              <a:r>
                <a:rPr lang="zh-CN" altLang="en-US" sz="1600" u="sng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那么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怪？生意不要了？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📍 </a:t>
              </a:r>
              <a:r>
                <a:rPr lang="zh-CN" altLang="en-US" sz="1400">
                  <a:solidFill>
                    <a:srgbClr val="FF7C8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地</a:t>
              </a:r>
              <a:r>
                <a:rPr lang="zh-CN" altLang="en-US" sz="1400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沟油大饭店</a:t>
              </a:r>
              <a:endParaRPr lang="en-US" altLang="zh-CN" sz="1400">
                <a:solidFill>
                  <a:schemeClr val="bg1">
                    <a:lumMod val="7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</a:t>
              </a:r>
            </a:p>
            <a:p>
              <a:pPr>
                <a:lnSpc>
                  <a:spcPct val="114000"/>
                </a:lnSpc>
              </a:pP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览：乌拉尔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山脉</a:t>
              </a:r>
              <a:r>
                <a:rPr lang="zh-CN" altLang="en-US" sz="1600" u="sng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让俄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罗斯拥有了什么？ 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lvl="0">
                <a:lnSpc>
                  <a:spcPct val="114000"/>
                </a:lnSpc>
                <a:defRPr/>
              </a:pPr>
              <a:r>
                <a:rPr lang="zh-CN" altLang="en-US" sz="1600" u="sng">
                  <a:solidFill>
                    <a:srgbClr val="FF7C8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海</a:t>
              </a:r>
              <a:r>
                <a:rPr lang="zh-CN" altLang="en-US" sz="1600" u="sng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阔天空看世界 分享的文章</a:t>
              </a:r>
              <a:endParaRPr lang="en-US" altLang="zh-CN" sz="1400">
                <a:solidFill>
                  <a:schemeClr val="bg1">
                    <a:lumMod val="7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</a:t>
              </a:r>
            </a:p>
            <a:p>
              <a:pPr algn="r">
                <a:lnSpc>
                  <a:spcPct val="114000"/>
                </a:lnSpc>
              </a:pP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推荐几首音乐，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风格</a:t>
              </a:r>
              <a:r>
                <a:rPr lang="zh-CN" altLang="en-US" sz="1600" u="sng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跟热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门的歌曲很不一样哦。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en-US" altLang="zh-CN" sz="1600" u="sng">
                  <a:solidFill>
                    <a:srgbClr val="FF7C8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</a:t>
              </a:r>
              <a:r>
                <a:rPr lang="en-US" altLang="zh-CN" sz="1600" u="sng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xperimental</a:t>
              </a:r>
              <a:r>
                <a:rPr lang="zh-CN" altLang="en-US" sz="1600" u="sng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合集</a:t>
              </a:r>
              <a:r>
                <a:rPr lang="en-US" altLang="zh-CN" sz="1600" u="sng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- </a:t>
              </a:r>
              <a:r>
                <a:rPr lang="zh-CN" altLang="en-US" sz="1600" u="sng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音乐盒</a:t>
              </a:r>
              <a:endParaRPr lang="en-US" altLang="zh-CN" sz="1600" u="sng">
                <a:solidFill>
                  <a:schemeClr val="bg1">
                    <a:lumMod val="7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4</a:t>
              </a:r>
            </a:p>
            <a:p>
              <a:pPr>
                <a:lnSpc>
                  <a:spcPct val="114000"/>
                </a:lnSpc>
              </a:pP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大家吃完饭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喜欢</a:t>
              </a:r>
              <a:r>
                <a:rPr lang="zh-CN" altLang="en-US" sz="1600" u="sng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立刻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坐下，还是先走一走？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u="sng">
                  <a:solidFill>
                    <a:srgbClr val="FF7C8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人</a:t>
              </a:r>
              <a:r>
                <a:rPr lang="zh-CN" altLang="en-US" sz="1600" u="sng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人来投票</a:t>
              </a:r>
              <a:endParaRPr lang="en-US" altLang="zh-CN" sz="1600" u="sng">
                <a:solidFill>
                  <a:schemeClr val="bg1">
                    <a:lumMod val="7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4</a:t>
              </a: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15F7B1AA-5EC1-E371-3842-FD90D70B8B8A}"/>
                </a:ext>
              </a:extLst>
            </p:cNvPr>
            <p:cNvSpPr/>
            <p:nvPr/>
          </p:nvSpPr>
          <p:spPr>
            <a:xfrm>
              <a:off x="4288505" y="1849726"/>
              <a:ext cx="521110" cy="5211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66C5FAE-738D-3B26-F4FA-08FB0DF87DF3}"/>
                </a:ext>
              </a:extLst>
            </p:cNvPr>
            <p:cNvSpPr/>
            <p:nvPr/>
          </p:nvSpPr>
          <p:spPr>
            <a:xfrm>
              <a:off x="4288505" y="3514982"/>
              <a:ext cx="521110" cy="5211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D4256CB-A790-85D4-3CB9-CC353FB72236}"/>
                </a:ext>
              </a:extLst>
            </p:cNvPr>
            <p:cNvSpPr/>
            <p:nvPr/>
          </p:nvSpPr>
          <p:spPr>
            <a:xfrm>
              <a:off x="4288505" y="5182862"/>
              <a:ext cx="521110" cy="5211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F00148E-D5B5-5DD4-078D-C789580EB2FB}"/>
                </a:ext>
              </a:extLst>
            </p:cNvPr>
            <p:cNvSpPr/>
            <p:nvPr/>
          </p:nvSpPr>
          <p:spPr>
            <a:xfrm>
              <a:off x="8339067" y="305079"/>
              <a:ext cx="521110" cy="5211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E8EF185-0F4E-AFD1-420F-568B97827AE7}"/>
                </a:ext>
              </a:extLst>
            </p:cNvPr>
            <p:cNvSpPr txBox="1"/>
            <p:nvPr/>
          </p:nvSpPr>
          <p:spPr>
            <a:xfrm>
              <a:off x="8889673" y="300161"/>
              <a:ext cx="3146320" cy="6456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我家孩子沉迷手机了，把他手机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拿了</a:t>
              </a:r>
              <a:r>
                <a:rPr lang="zh-CN" altLang="en-US" sz="1600" u="sng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他肯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定要跟你急。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u="sng">
                  <a:solidFill>
                    <a:srgbClr val="FF7C8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如</a:t>
              </a:r>
              <a:r>
                <a:rPr lang="zh-CN" altLang="en-US" sz="1600" u="sng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何管理孩子看手机的时间？</a:t>
              </a:r>
              <a:endParaRPr lang="en-US" altLang="zh-CN" sz="1600" u="sng">
                <a:solidFill>
                  <a:schemeClr val="bg1">
                    <a:lumMod val="7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5</a:t>
              </a:r>
            </a:p>
            <a:p>
              <a:pPr>
                <a:lnSpc>
                  <a:spcPct val="114000"/>
                </a:lnSpc>
              </a:pP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今天在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智利</a:t>
              </a:r>
              <a:r>
                <a:rPr lang="zh-CN" altLang="en-US" sz="1600" u="sng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吃了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甜玉米派。玉米可真是个好东西。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📍 </a:t>
              </a:r>
              <a:r>
                <a:rPr lang="en-US" altLang="zh-CN" sz="1400">
                  <a:solidFill>
                    <a:srgbClr val="FF7C8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I</a:t>
              </a:r>
              <a:r>
                <a:rPr lang="en-US" altLang="zh-CN" sz="1400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quique</a:t>
              </a: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5</a:t>
              </a:r>
            </a:p>
            <a:p>
              <a:pPr algn="r">
                <a:lnSpc>
                  <a:spcPct val="114000"/>
                </a:lnSpc>
              </a:pP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老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房子</a:t>
              </a:r>
              <a:r>
                <a:rPr lang="zh-CN" altLang="en-US" sz="1600" u="sng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后色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彩斑斓的鲜花。这座古镇打点得真好看。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📍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7C8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南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浔古镇</a:t>
              </a:r>
              <a:endPara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  <a:p>
              <a:pPr marL="0" marR="0" lvl="0" indent="0" algn="r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5</a:t>
              </a:r>
            </a:p>
            <a:p>
              <a:pPr algn="r">
                <a:lnSpc>
                  <a:spcPct val="114000"/>
                </a:lnSpc>
              </a:pP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这个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女人</a:t>
              </a:r>
              <a:r>
                <a:rPr lang="zh-CN" altLang="en-US" sz="1600" u="sng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我蛮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佩服的，真的很勇敢。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u="sng">
                  <a:solidFill>
                    <a:srgbClr val="FF7C8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光</a:t>
              </a:r>
              <a:r>
                <a:rPr lang="zh-CN" altLang="en-US" sz="1600" u="sng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明日报 分享的文章</a:t>
              </a:r>
              <a:endParaRPr lang="en-US" altLang="zh-CN" sz="1600">
                <a:solidFill>
                  <a:schemeClr val="bg1">
                    <a:lumMod val="7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2</a:t>
              </a: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A10E84E-E9A1-9EF6-9EED-B752FA806502}"/>
                </a:ext>
              </a:extLst>
            </p:cNvPr>
            <p:cNvSpPr/>
            <p:nvPr/>
          </p:nvSpPr>
          <p:spPr>
            <a:xfrm>
              <a:off x="8339067" y="1966731"/>
              <a:ext cx="521110" cy="5211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13E1F59-FFBB-9C6E-E4B9-DCF79CC89D48}"/>
                </a:ext>
              </a:extLst>
            </p:cNvPr>
            <p:cNvSpPr/>
            <p:nvPr/>
          </p:nvSpPr>
          <p:spPr>
            <a:xfrm>
              <a:off x="8339067" y="3598888"/>
              <a:ext cx="521110" cy="5211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013D6CB-EDBC-9D96-ED85-679317075B51}"/>
                </a:ext>
              </a:extLst>
            </p:cNvPr>
            <p:cNvSpPr/>
            <p:nvPr/>
          </p:nvSpPr>
          <p:spPr>
            <a:xfrm>
              <a:off x="8339067" y="5235960"/>
              <a:ext cx="521110" cy="5211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AF4BE8F-54D9-D59A-F30C-2EB7E4EDAA4B}"/>
                </a:ext>
              </a:extLst>
            </p:cNvPr>
            <p:cNvSpPr txBox="1"/>
            <p:nvPr/>
          </p:nvSpPr>
          <p:spPr>
            <a:xfrm>
              <a:off x="788549" y="2879160"/>
              <a:ext cx="3146320" cy="34743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4000"/>
                </a:lnSpc>
              </a:pP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楼下新开的咖啡店真火爆！已经排起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长</a:t>
              </a:r>
              <a:r>
                <a:rPr lang="zh-CN" altLang="en-US" sz="1600" u="sng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龙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了。 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lvl="0">
                <a:lnSpc>
                  <a:spcPct val="114000"/>
                </a:lnSpc>
                <a:defRPr/>
              </a:pPr>
              <a:r>
                <a:rPr lang="zh-CN" altLang="en-US" sz="1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📍 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7C80"/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热</a:t>
              </a:r>
              <a:r>
                <a: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思源黑体 CN" panose="020B0500000000000000" pitchFamily="34" charset="-122"/>
                  <a:ea typeface="思源黑体 CN" panose="020B0500000000000000" pitchFamily="34" charset="-122"/>
                  <a:cs typeface="+mn-cs"/>
                </a:rPr>
                <a:t>爱咖啡</a:t>
              </a:r>
              <a:endPara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思源黑体 CN" panose="020B0500000000000000" pitchFamily="34" charset="-122"/>
                <a:ea typeface="思源黑体 CN" panose="020B0500000000000000" pitchFamily="34" charset="-122"/>
                <a:cs typeface="+mn-cs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4</a:t>
              </a:r>
            </a:p>
            <a:p>
              <a:pPr algn="r">
                <a:lnSpc>
                  <a:spcPct val="114000"/>
                </a:lnSpc>
              </a:pP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匿名用户</a:t>
              </a:r>
              <a:endParaRPr lang="en-US" altLang="zh-CN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来自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院长</a:t>
              </a:r>
              <a:r>
                <a:rPr lang="zh-CN" altLang="en-US" sz="1600" u="sng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的安</a:t>
              </a:r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全提醒！千万不要这样做！ </a:t>
              </a:r>
              <a:endParaRPr lang="en-US" altLang="zh-CN" sz="1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zh-CN" altLang="en-US" sz="1600" u="sng">
                  <a:solidFill>
                    <a:srgbClr val="FF7C8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儿</a:t>
              </a:r>
              <a:r>
                <a:rPr lang="zh-CN" altLang="en-US" sz="1600" u="sng">
                  <a:solidFill>
                    <a:schemeClr val="bg1">
                      <a:lumMod val="7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童医院王主任 分享的视频</a:t>
              </a:r>
              <a:endParaRPr lang="en-US" altLang="zh-CN" sz="1600">
                <a:solidFill>
                  <a:schemeClr val="bg1">
                    <a:lumMod val="7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❤ </a:t>
              </a:r>
              <a:r>
                <a:rPr lang="en-US" altLang="zh-CN" sz="1600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1</a:t>
              </a: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FAF6C1A-E189-2A5C-AD93-6EB6D92B3058}"/>
                </a:ext>
              </a:extLst>
            </p:cNvPr>
            <p:cNvSpPr/>
            <p:nvPr/>
          </p:nvSpPr>
          <p:spPr>
            <a:xfrm>
              <a:off x="237943" y="3158399"/>
              <a:ext cx="521110" cy="5211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BC056B0-D85C-2FE0-9FB2-2BC1D48A25AC}"/>
                </a:ext>
              </a:extLst>
            </p:cNvPr>
            <p:cNvSpPr/>
            <p:nvPr/>
          </p:nvSpPr>
          <p:spPr>
            <a:xfrm>
              <a:off x="237943" y="4795143"/>
              <a:ext cx="521110" cy="52111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BD23423-67F1-2280-10AC-DE364710C117}"/>
                </a:ext>
              </a:extLst>
            </p:cNvPr>
            <p:cNvSpPr txBox="1"/>
            <p:nvPr/>
          </p:nvSpPr>
          <p:spPr>
            <a:xfrm>
              <a:off x="237942" y="259470"/>
              <a:ext cx="3272173" cy="945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zh-CN" altLang="en-US" sz="32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匿名留言墙 </a:t>
              </a:r>
              <a:r>
                <a:rPr lang="zh-CN" altLang="en-US" sz="3200" b="1">
                  <a:solidFill>
                    <a:srgbClr val="0033CC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解析</a:t>
              </a:r>
              <a:endParaRPr lang="en-US" altLang="zh-CN" sz="3200" b="1">
                <a:solidFill>
                  <a:srgbClr val="0033CC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14000"/>
                </a:lnSpc>
              </a:pPr>
              <a:r>
                <a:rPr lang="en-US" altLang="zh-CN" i="1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by Zeta-Xi-Upsilon</a:t>
              </a:r>
              <a:endParaRPr lang="zh-CN" altLang="en-US" i="1">
                <a:solidFill>
                  <a:schemeClr val="tx1">
                    <a:lumMod val="50000"/>
                    <a:lumOff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E303CD13-0C7E-BBDC-34E9-47D10F2494F1}"/>
                </a:ext>
              </a:extLst>
            </p:cNvPr>
            <p:cNvSpPr/>
            <p:nvPr/>
          </p:nvSpPr>
          <p:spPr>
            <a:xfrm>
              <a:off x="498498" y="1553497"/>
              <a:ext cx="3146320" cy="1238864"/>
            </a:xfrm>
            <a:prstGeom prst="roundRect">
              <a:avLst>
                <a:gd name="adj" fmla="val 952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发布新留言</a:t>
              </a:r>
              <a:endParaRPr lang="en-US" altLang="zh-CN" sz="1600">
                <a:solidFill>
                  <a:schemeClr val="bg1">
                    <a:lumMod val="65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ctr"/>
              <a:r>
                <a:rPr lang="en-US" altLang="zh-CN" sz="320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+</a:t>
              </a:r>
              <a:br>
                <a:rPr lang="en-US" altLang="zh-CN">
                  <a:solidFill>
                    <a:schemeClr val="bg1">
                      <a:lumMod val="5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</a:br>
              <a:r>
                <a:rPr lang="zh-CN" altLang="en-US" sz="1200" b="1" i="1">
                  <a:solidFill>
                    <a:schemeClr val="accent3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想</a:t>
              </a:r>
              <a:r>
                <a:rPr lang="zh-CN" altLang="en-US" sz="1200" i="1" u="sng">
                  <a:solidFill>
                    <a:schemeClr val="tx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玩？那</a:t>
              </a:r>
              <a:r>
                <a:rPr lang="zh-CN" altLang="en-US" sz="1200" i="1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就点这里！</a:t>
              </a:r>
              <a:r>
                <a:rPr lang="en-US" altLang="zh-CN" sz="1200" i="1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——</a:t>
              </a:r>
              <a:r>
                <a:rPr lang="zh-CN" altLang="en-US" sz="1200" i="1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管理员 </a:t>
              </a:r>
              <a:r>
                <a:rPr lang="en-US" altLang="zh-CN" sz="1200" i="1">
                  <a:solidFill>
                    <a:srgbClr val="E60832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1</a:t>
              </a:r>
              <a:r>
                <a:rPr lang="en-US" altLang="zh-CN" sz="1200" i="1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-</a:t>
              </a:r>
              <a:r>
                <a:rPr lang="en-US" altLang="zh-CN" sz="1200" i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W</a:t>
              </a:r>
              <a:endParaRPr lang="zh-CN" altLang="en-US" sz="1600" i="1">
                <a:solidFill>
                  <a:schemeClr val="accent3">
                    <a:lumMod val="60000"/>
                    <a:lumOff val="4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D6A7BFE-7AC1-49B7-BC5F-2B78B33A0090}"/>
                </a:ext>
              </a:extLst>
            </p:cNvPr>
            <p:cNvSpPr txBox="1"/>
            <p:nvPr/>
          </p:nvSpPr>
          <p:spPr>
            <a:xfrm>
              <a:off x="156007" y="7024055"/>
              <a:ext cx="11879988" cy="12538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20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每条的正文都包含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「一个词后紧跟拼音拼法与其英语相同的几个字」</a:t>
              </a:r>
              <a:r>
                <a:rPr lang="zh-CN" altLang="en-US" sz="20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的结构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，</a:t>
              </a:r>
              <a:r>
                <a:rPr lang="zh-CN" altLang="en-US" sz="20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提取该词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小红心数</a:t>
              </a:r>
              <a:r>
                <a:rPr lang="zh-CN" altLang="en-US" sz="20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对应字母</a:t>
              </a:r>
              <a:endParaRPr lang="en-US" altLang="zh-CN" sz="20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 algn="ctr">
                <a:lnSpc>
                  <a:spcPct val="130000"/>
                </a:lnSpc>
              </a:pP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按正文部分从短到长排序</a:t>
              </a:r>
              <a:r>
                <a:rPr lang="zh-CN" altLang="en-US" sz="20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（都是两个标点符号，所以字符数和汉字数都可以）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得到 </a:t>
              </a:r>
              <a:r>
                <a:rPr lang="en-US" altLang="zh-CN" sz="2000" b="1">
                  <a:solidFill>
                    <a:srgbClr val="0033CC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MONDEGREEN</a:t>
              </a:r>
            </a:p>
            <a:p>
              <a:pPr algn="ctr">
                <a:lnSpc>
                  <a:spcPct val="130000"/>
                </a:lnSpc>
              </a:pPr>
              <a:r>
                <a:rPr lang="zh-CN" altLang="en-US" sz="2000">
                  <a:solidFill>
                    <a:schemeClr val="bg1">
                      <a:lumMod val="65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每条正文以下附带内容取首字母得到 </a:t>
              </a:r>
              <a:r>
                <a:rPr lang="en-US" altLang="zh-CN" sz="2000">
                  <a:solidFill>
                    <a:srgbClr val="FF7C8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RED HERRING</a:t>
              </a:r>
              <a:endParaRPr lang="zh-CN" altLang="en-US" sz="2000">
                <a:solidFill>
                  <a:srgbClr val="FF7C8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B7FC1841-6489-0816-B154-1AACE80308BB}"/>
                </a:ext>
              </a:extLst>
            </p:cNvPr>
            <p:cNvSpPr txBox="1"/>
            <p:nvPr/>
          </p:nvSpPr>
          <p:spPr>
            <a:xfrm>
              <a:off x="759053" y="2152066"/>
              <a:ext cx="88998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w</a:t>
              </a:r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anna</a:t>
              </a:r>
              <a:endParaRPr lang="zh-CN" altLang="en-US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614219B-903D-827F-747E-39EBB35B2460}"/>
                </a:ext>
              </a:extLst>
            </p:cNvPr>
            <p:cNvSpPr txBox="1"/>
            <p:nvPr/>
          </p:nvSpPr>
          <p:spPr>
            <a:xfrm>
              <a:off x="183347" y="3651917"/>
              <a:ext cx="6303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lon</a:t>
              </a:r>
              <a:r>
                <a:rPr lang="en-US" altLang="zh-CN" sz="1600" b="1">
                  <a:solidFill>
                    <a:srgbClr val="00CC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g</a:t>
              </a:r>
              <a:endParaRPr lang="zh-CN" altLang="en-US" sz="1600" b="1">
                <a:solidFill>
                  <a:srgbClr val="00CC0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F8699DE-06A7-459F-4F65-DD22F8C029AD}"/>
                </a:ext>
              </a:extLst>
            </p:cNvPr>
            <p:cNvSpPr txBox="1"/>
            <p:nvPr/>
          </p:nvSpPr>
          <p:spPr>
            <a:xfrm>
              <a:off x="156007" y="5332967"/>
              <a:ext cx="6851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>
                  <a:solidFill>
                    <a:srgbClr val="00CC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d</a:t>
              </a:r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ean</a:t>
              </a:r>
              <a:endParaRPr lang="zh-CN" altLang="en-US" sz="1600" b="1">
                <a:solidFill>
                  <a:srgbClr val="00CC0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3DF93CC-039D-B533-9D12-56E6FA247A26}"/>
                </a:ext>
              </a:extLst>
            </p:cNvPr>
            <p:cNvSpPr txBox="1"/>
            <p:nvPr/>
          </p:nvSpPr>
          <p:spPr>
            <a:xfrm>
              <a:off x="4165781" y="1009069"/>
              <a:ext cx="7665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na</a:t>
              </a:r>
              <a:r>
                <a:rPr lang="en-US" altLang="zh-CN" sz="1600" b="1">
                  <a:solidFill>
                    <a:srgbClr val="00CC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m</a:t>
              </a:r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</a:t>
              </a:r>
              <a:endParaRPr lang="zh-CN" altLang="en-US" sz="1600" b="1">
                <a:solidFill>
                  <a:srgbClr val="00CC0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61D6487-FB00-2D09-25E6-D6C9DA19F3F9}"/>
                </a:ext>
              </a:extLst>
            </p:cNvPr>
            <p:cNvSpPr txBox="1"/>
            <p:nvPr/>
          </p:nvSpPr>
          <p:spPr>
            <a:xfrm>
              <a:off x="4174438" y="2368212"/>
              <a:ext cx="75790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ra</a:t>
              </a:r>
              <a:r>
                <a:rPr lang="en-US" altLang="zh-CN" sz="1600" b="1">
                  <a:solidFill>
                    <a:srgbClr val="00CC00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n</a:t>
              </a:r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ge</a:t>
              </a:r>
              <a:endParaRPr lang="zh-CN" altLang="en-US" sz="1600" b="1">
                <a:solidFill>
                  <a:srgbClr val="00CC0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531B642-53F5-111C-162C-5C9FDB7C0F62}"/>
                </a:ext>
              </a:extLst>
            </p:cNvPr>
            <p:cNvSpPr txBox="1"/>
            <p:nvPr/>
          </p:nvSpPr>
          <p:spPr>
            <a:xfrm>
              <a:off x="4174086" y="4036092"/>
              <a:ext cx="7586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gen</a:t>
              </a:r>
              <a:r>
                <a:rPr lang="en-US" altLang="zh-CN" sz="1600" b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r</a:t>
              </a:r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</a:t>
              </a:r>
              <a:endParaRPr lang="zh-CN" altLang="en-US" sz="1600" b="1">
                <a:solidFill>
                  <a:srgbClr val="00CC0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4F08265-BC2A-8433-5F01-AE6F0A89E44A}"/>
                </a:ext>
              </a:extLst>
            </p:cNvPr>
            <p:cNvSpPr txBox="1"/>
            <p:nvPr/>
          </p:nvSpPr>
          <p:spPr>
            <a:xfrm>
              <a:off x="4275362" y="5703972"/>
              <a:ext cx="5473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lik</a:t>
              </a:r>
              <a:r>
                <a:rPr lang="en-US" altLang="zh-CN" sz="1600" b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</a:t>
              </a:r>
              <a:endParaRPr lang="zh-CN" altLang="en-US" sz="1600" b="1">
                <a:solidFill>
                  <a:srgbClr val="00CC0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2AB2099-A972-3BA1-E5FF-51231EBFA543}"/>
                </a:ext>
              </a:extLst>
            </p:cNvPr>
            <p:cNvSpPr txBox="1"/>
            <p:nvPr/>
          </p:nvSpPr>
          <p:spPr>
            <a:xfrm>
              <a:off x="8221697" y="815756"/>
              <a:ext cx="7558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take</a:t>
              </a:r>
              <a:r>
                <a:rPr lang="en-US" altLang="zh-CN" sz="1600" b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n</a:t>
              </a:r>
              <a:endParaRPr lang="zh-CN" altLang="en-US" sz="1600" b="1">
                <a:solidFill>
                  <a:schemeClr val="accent3">
                    <a:lumMod val="60000"/>
                    <a:lumOff val="4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CBEA304-7284-575D-E1A5-A609B00E5A8B}"/>
                </a:ext>
              </a:extLst>
            </p:cNvPr>
            <p:cNvSpPr txBox="1"/>
            <p:nvPr/>
          </p:nvSpPr>
          <p:spPr>
            <a:xfrm>
              <a:off x="8251611" y="2482926"/>
              <a:ext cx="6960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Chil</a:t>
              </a:r>
              <a:r>
                <a:rPr lang="en-US" altLang="zh-CN" sz="1600" b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</a:t>
              </a:r>
              <a:endParaRPr lang="zh-CN" altLang="en-US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0406CC7-E1E7-3CDF-6014-6DD7F634302E}"/>
                </a:ext>
              </a:extLst>
            </p:cNvPr>
            <p:cNvSpPr txBox="1"/>
            <p:nvPr/>
          </p:nvSpPr>
          <p:spPr>
            <a:xfrm>
              <a:off x="8201915" y="4119998"/>
              <a:ext cx="7954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hous</a:t>
              </a:r>
              <a:r>
                <a:rPr lang="en-US" altLang="zh-CN" sz="1600" b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</a:t>
              </a:r>
              <a:endParaRPr lang="zh-CN" altLang="en-US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DAD154F1-06E7-DAF5-69F7-A3D61E3B4155}"/>
                </a:ext>
              </a:extLst>
            </p:cNvPr>
            <p:cNvSpPr txBox="1"/>
            <p:nvPr/>
          </p:nvSpPr>
          <p:spPr>
            <a:xfrm>
              <a:off x="8130613" y="5732772"/>
              <a:ext cx="9380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w</a:t>
              </a:r>
              <a:r>
                <a:rPr lang="en-US" altLang="zh-CN" sz="1600" b="1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o</a:t>
              </a:r>
              <a:r>
                <a:rPr lang="en-US" altLang="zh-CN" sz="16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man</a:t>
              </a:r>
              <a:endParaRPr lang="zh-CN" altLang="en-US" sz="16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4944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559</Words>
  <Application>Microsoft Office PowerPoint</Application>
  <PresentationFormat>宽屏</PresentationFormat>
  <Paragraphs>120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思源黑体 CN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XY Zheng</dc:creator>
  <cp:lastModifiedBy>XY Zheng</cp:lastModifiedBy>
  <cp:revision>2</cp:revision>
  <dcterms:created xsi:type="dcterms:W3CDTF">2026-04-10T15:46:41Z</dcterms:created>
  <dcterms:modified xsi:type="dcterms:W3CDTF">2026-04-10T19:01:32Z</dcterms:modified>
</cp:coreProperties>
</file>