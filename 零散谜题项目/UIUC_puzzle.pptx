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552F"/>
    <a:srgbClr val="13294B"/>
    <a:srgbClr val="FF5F05"/>
    <a:srgbClr val="CCCCCC"/>
    <a:srgbClr val="9E8966"/>
    <a:srgbClr val="008063"/>
    <a:srgbClr val="000000"/>
    <a:srgbClr val="A78BC0"/>
    <a:srgbClr val="E7131A"/>
    <a:srgbClr val="C799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026" autoAdjust="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47ADD-0DDD-4F9D-9FE2-A705CBAD8C61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B349EF-B760-4626-A854-FA542EFDC76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5036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B349EF-B760-4626-A854-FA542EFDC76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613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883DF4-6E44-E5DE-0D62-FCDB674A2E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E2A921B-F47D-4D99-A38A-EC8947DC3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52C9ED-092D-1CE1-619E-E15D5A90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E80910-3401-FC86-38D9-E67D21C13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4886B-469C-858E-70EC-F9AE9617E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3663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1175D6-28B8-1444-9FF5-A89BCB35D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49D4F8-6DF8-5B69-3460-09875FCF96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58B771-32A2-1CE8-D682-835BB2ED6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4EE17F-D4EF-DEED-6FB0-639167298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3E1589B-58B2-CFE7-1CFA-77DE6AD44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1082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3292C6-2C5F-9B55-FEB3-AB2014FF7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7383CFF-94F7-7DDE-B42F-572639D605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50875B-784F-08AD-FFD7-519FDC264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2ABCE4-986D-207F-606E-FEC85686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D7BBAE-DCF0-B1F3-4D6D-B2CB73A4D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5686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1E9446-29F3-8C2C-2F3B-5EFE38EB0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B12F88-E5FC-CCD6-9BA4-FA29CDA885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2E064C-F533-9CD3-4816-4078631556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C0DBBDE-C179-40D3-0CE7-9B84D2760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A32706C-5F07-5733-9EAE-FC5980862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74172C-4189-5AD6-1870-BFC93C4D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50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83C057-593F-7836-7081-00347DC26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42D3078-D5A9-A7C5-7035-56D78AD15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85FF65-83A5-3EB1-5114-DE88B06374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A889119-9C74-A683-0011-3C9D26C3F1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567FF78-B5D7-C7EA-6B1B-2F590BDF5F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F12E8B-1AA1-EF52-685F-3561B46B4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5C3CF7-EADF-130B-280C-EDDBD843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C6D23B-2DE4-B29C-BA6D-5FC6BE70F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202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AF1DDF-5BE1-E7ED-8BDF-7062ED330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FA8DA51-C63B-85C3-CBFD-E045A865C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620E41-792D-AB54-A58E-F5E7BD818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739A36D-1D82-7477-F2BA-1F2E5412B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919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D208CCA-7205-A302-3024-78417B73F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4774F1-DEED-B594-52AD-20C3E153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03F4698-7A85-4D23-4A8C-B6C81E96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4216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D46ED-EB52-84E3-8329-1493928CF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0C8C6F-AE19-589D-D97D-98A3A281A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4636126-CEAA-D5FF-AA20-BBF390FB9A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9D6007-A0C0-5709-9920-491E02BA1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69E4B4-9667-45A4-8A11-A958974F6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790DC17-3639-0705-148F-DC4C1BC64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94856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D9D64C-E6B1-AB05-434E-718562CF6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7D09626-B53C-CD39-678D-7062284EBD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6BF7C9-BF00-5479-1213-DA7C55CEB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2C963FD-9F07-6E7B-47DA-FCDEA1AB4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49F0F7-636C-1B9E-3523-2D5313B5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B18D39-18C6-0ED8-5E83-8ED87AD3B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1693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03A033-3E1C-E3E8-683F-1FE1CC30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031714-6CAA-E9D2-92AE-6E76CD06E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0D7A52-ABA5-947C-64B8-07DDAF25D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059C9E-434F-5309-7241-B9F8F6A0F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4F2CDC-48DA-F579-F215-E19E44BC7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2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7F29EC2-08FB-6429-DA74-74C8A15DB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3CE98B-ED4D-EF45-45BF-A57ACD0571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90458F-C74E-C576-F9C0-1DB22B7FD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A9BCFD-5380-21A4-2EA5-9A391DF43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DF8CFB-4DDF-2897-ECBD-A13C7D2F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164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FC5DC2D-B6C5-F502-B932-6E70D1BFB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A5403E-A778-E45D-32B5-6D1C740A9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940D8CD-0075-94F7-77FD-6415B20886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6E84BC-EAB5-4950-84E5-04BE34C65733}" type="datetimeFigureOut">
              <a:rPr lang="zh-CN" altLang="en-US" smtClean="0"/>
              <a:t>2025/9/1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068063-366B-4EFA-B6F6-741195B64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408FFA-906D-FF15-8903-69584D9EC7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0F0E7-AABA-4430-89DC-307BA6B8C60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88391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" name="组合 110">
            <a:extLst>
              <a:ext uri="{FF2B5EF4-FFF2-40B4-BE49-F238E27FC236}">
                <a16:creationId xmlns:a16="http://schemas.microsoft.com/office/drawing/2014/main" id="{81B4CBD5-4CC5-99EE-0C8D-269B543E3B64}"/>
              </a:ext>
            </a:extLst>
          </p:cNvPr>
          <p:cNvGrpSpPr/>
          <p:nvPr/>
        </p:nvGrpSpPr>
        <p:grpSpPr>
          <a:xfrm>
            <a:off x="2807110" y="0"/>
            <a:ext cx="6577780" cy="6858000"/>
            <a:chOff x="2807110" y="0"/>
            <a:chExt cx="6577780" cy="68580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0263D03-4934-B403-1C42-261BBF20FCAB}"/>
                </a:ext>
              </a:extLst>
            </p:cNvPr>
            <p:cNvSpPr/>
            <p:nvPr/>
          </p:nvSpPr>
          <p:spPr>
            <a:xfrm>
              <a:off x="2807110" y="0"/>
              <a:ext cx="6577780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5" name="矩形: 对角圆角 4">
              <a:extLst>
                <a:ext uri="{FF2B5EF4-FFF2-40B4-BE49-F238E27FC236}">
                  <a16:creationId xmlns:a16="http://schemas.microsoft.com/office/drawing/2014/main" id="{8AD102D9-9A5F-8C9B-171C-DE72090C90D8}"/>
                </a:ext>
              </a:extLst>
            </p:cNvPr>
            <p:cNvSpPr/>
            <p:nvPr/>
          </p:nvSpPr>
          <p:spPr>
            <a:xfrm flipH="1">
              <a:off x="3072581" y="223686"/>
              <a:ext cx="2910347" cy="2082956"/>
            </a:xfrm>
            <a:prstGeom prst="round2DiagRect">
              <a:avLst>
                <a:gd name="adj1" fmla="val 8170"/>
                <a:gd name="adj2" fmla="val 0"/>
              </a:avLst>
            </a:prstGeom>
            <a:solidFill>
              <a:schemeClr val="bg1"/>
            </a:solidFill>
            <a:ln w="28575">
              <a:solidFill>
                <a:srgbClr val="13294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6" name="矩形: 剪去对角 5">
              <a:extLst>
                <a:ext uri="{FF2B5EF4-FFF2-40B4-BE49-F238E27FC236}">
                  <a16:creationId xmlns:a16="http://schemas.microsoft.com/office/drawing/2014/main" id="{A7A82C49-B859-744E-51B7-3602AEE868D5}"/>
                </a:ext>
              </a:extLst>
            </p:cNvPr>
            <p:cNvSpPr/>
            <p:nvPr/>
          </p:nvSpPr>
          <p:spPr>
            <a:xfrm flipH="1">
              <a:off x="6199233" y="1030178"/>
              <a:ext cx="2910348" cy="3015795"/>
            </a:xfrm>
            <a:prstGeom prst="snip2DiagRect">
              <a:avLst>
                <a:gd name="adj1" fmla="val 0"/>
                <a:gd name="adj2" fmla="val 5735"/>
              </a:avLst>
            </a:prstGeom>
            <a:solidFill>
              <a:schemeClr val="bg1"/>
            </a:solidFill>
            <a:ln w="28575">
              <a:solidFill>
                <a:srgbClr val="13294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7" name="矩形: 剪去单角 6">
              <a:extLst>
                <a:ext uri="{FF2B5EF4-FFF2-40B4-BE49-F238E27FC236}">
                  <a16:creationId xmlns:a16="http://schemas.microsoft.com/office/drawing/2014/main" id="{6B05AB6C-D218-FFDF-E2C0-547E8282D67F}"/>
                </a:ext>
              </a:extLst>
            </p:cNvPr>
            <p:cNvSpPr/>
            <p:nvPr/>
          </p:nvSpPr>
          <p:spPr>
            <a:xfrm flipV="1">
              <a:off x="3072582" y="2530327"/>
              <a:ext cx="2910347" cy="4017951"/>
            </a:xfrm>
            <a:prstGeom prst="snip1Rect">
              <a:avLst>
                <a:gd name="adj" fmla="val 6532"/>
              </a:avLst>
            </a:prstGeom>
            <a:solidFill>
              <a:schemeClr val="bg1"/>
            </a:solidFill>
            <a:ln w="28575">
              <a:solidFill>
                <a:srgbClr val="13294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25CB425-56E1-068A-D3FF-FFFAB5452027}"/>
                </a:ext>
              </a:extLst>
            </p:cNvPr>
            <p:cNvSpPr/>
            <p:nvPr/>
          </p:nvSpPr>
          <p:spPr>
            <a:xfrm>
              <a:off x="6199233" y="4269658"/>
              <a:ext cx="2910347" cy="22786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3294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3294B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6B8BA0E1-3345-69A9-10FD-B99B72840534}"/>
                </a:ext>
              </a:extLst>
            </p:cNvPr>
            <p:cNvSpPr txBox="1"/>
            <p:nvPr/>
          </p:nvSpPr>
          <p:spPr>
            <a:xfrm>
              <a:off x="6199233" y="4410321"/>
              <a:ext cx="102255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FF5F05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META</a:t>
              </a:r>
              <a:endParaRPr lang="zh-CN" altLang="en-US" sz="2000">
                <a:solidFill>
                  <a:srgbClr val="FF5F0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7D29380-F688-51E4-457B-5BB560EF54F4}"/>
                </a:ext>
              </a:extLst>
            </p:cNvPr>
            <p:cNvSpPr txBox="1"/>
            <p:nvPr/>
          </p:nvSpPr>
          <p:spPr>
            <a:xfrm>
              <a:off x="6651509" y="5007078"/>
              <a:ext cx="20057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Who is he? (7)</a:t>
              </a:r>
              <a:endParaRPr lang="zh-CN" altLang="en-US" sz="20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4" name="矩形: 对角圆角 13">
              <a:extLst>
                <a:ext uri="{FF2B5EF4-FFF2-40B4-BE49-F238E27FC236}">
                  <a16:creationId xmlns:a16="http://schemas.microsoft.com/office/drawing/2014/main" id="{D50E9552-31AE-C639-0BC5-8BC4BEBEC470}"/>
                </a:ext>
              </a:extLst>
            </p:cNvPr>
            <p:cNvSpPr/>
            <p:nvPr/>
          </p:nvSpPr>
          <p:spPr>
            <a:xfrm flipH="1">
              <a:off x="6349174" y="5718961"/>
              <a:ext cx="526032" cy="568368"/>
            </a:xfrm>
            <a:prstGeom prst="round2DiagRect">
              <a:avLst>
                <a:gd name="adj1" fmla="val 24985"/>
                <a:gd name="adj2" fmla="val 0"/>
              </a:avLst>
            </a:prstGeom>
            <a:noFill/>
            <a:ln w="28575">
              <a:solidFill>
                <a:srgbClr val="FF5F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3294B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5" name="矩形: 剪去对角 14">
              <a:extLst>
                <a:ext uri="{FF2B5EF4-FFF2-40B4-BE49-F238E27FC236}">
                  <a16:creationId xmlns:a16="http://schemas.microsoft.com/office/drawing/2014/main" id="{89A27BA5-40BD-885A-3319-D4CAF46AF8D0}"/>
                </a:ext>
              </a:extLst>
            </p:cNvPr>
            <p:cNvSpPr/>
            <p:nvPr/>
          </p:nvSpPr>
          <p:spPr>
            <a:xfrm flipH="1">
              <a:off x="8029148" y="5718961"/>
              <a:ext cx="526032" cy="568369"/>
            </a:xfrm>
            <a:prstGeom prst="snip2DiagRect">
              <a:avLst>
                <a:gd name="adj1" fmla="val 0"/>
                <a:gd name="adj2" fmla="val 24731"/>
              </a:avLst>
            </a:prstGeom>
            <a:noFill/>
            <a:ln w="28575">
              <a:solidFill>
                <a:srgbClr val="FF5F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3294B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6" name="矩形: 剪去单角 15">
              <a:extLst>
                <a:ext uri="{FF2B5EF4-FFF2-40B4-BE49-F238E27FC236}">
                  <a16:creationId xmlns:a16="http://schemas.microsoft.com/office/drawing/2014/main" id="{41A111A8-56BA-E399-7BAE-A0DC7ED3593D}"/>
                </a:ext>
              </a:extLst>
            </p:cNvPr>
            <p:cNvSpPr/>
            <p:nvPr/>
          </p:nvSpPr>
          <p:spPr>
            <a:xfrm>
              <a:off x="6996909" y="5720746"/>
              <a:ext cx="526033" cy="564799"/>
            </a:xfrm>
            <a:prstGeom prst="snip1Rect">
              <a:avLst>
                <a:gd name="adj" fmla="val 25223"/>
              </a:avLst>
            </a:prstGeom>
            <a:noFill/>
            <a:ln w="28575">
              <a:solidFill>
                <a:srgbClr val="FF5F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3294B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9DFE0B71-CB34-6076-83A3-13BB88E75DEE}"/>
                </a:ext>
              </a:extLst>
            </p:cNvPr>
            <p:cNvSpPr txBox="1"/>
            <p:nvPr/>
          </p:nvSpPr>
          <p:spPr>
            <a:xfrm>
              <a:off x="3003313" y="1573161"/>
              <a:ext cx="3048882" cy="6583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1">
                  <a:solidFill>
                    <a:srgbClr val="FF5F05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32 02 34 21 15 24 22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1600" b="1">
                  <a:solidFill>
                    <a:srgbClr val="FF5F05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30 18 30 05 17 09 01 30</a:t>
              </a:r>
              <a:endParaRPr lang="zh-CN" altLang="en-US" sz="1600" b="1">
                <a:solidFill>
                  <a:srgbClr val="FF5F05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FFA82EE1-30F5-0BF3-1D33-6C517A68548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89214" y="357558"/>
              <a:ext cx="877080" cy="1215602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A29D1989-EAF6-CAD0-4062-C654D53BDA4A}"/>
                </a:ext>
              </a:extLst>
            </p:cNvPr>
            <p:cNvSpPr txBox="1"/>
            <p:nvPr/>
          </p:nvSpPr>
          <p:spPr>
            <a:xfrm>
              <a:off x="4277244" y="780695"/>
              <a:ext cx="5010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35</a:t>
              </a:r>
              <a:endParaRPr lang="zh-CN" altLang="en-US" b="1">
                <a:solidFill>
                  <a:srgbClr val="13294B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291540C8-CABA-9DF4-4667-C8C3C320DEDE}"/>
                </a:ext>
              </a:extLst>
            </p:cNvPr>
            <p:cNvGrpSpPr/>
            <p:nvPr/>
          </p:nvGrpSpPr>
          <p:grpSpPr>
            <a:xfrm>
              <a:off x="3354294" y="2724090"/>
              <a:ext cx="2107567" cy="3669227"/>
              <a:chOff x="6310927" y="147483"/>
              <a:chExt cx="3757305" cy="6541387"/>
            </a:xfrm>
            <a:solidFill>
              <a:schemeClr val="bg1">
                <a:lumMod val="85000"/>
              </a:schemeClr>
            </a:solidFill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9176DF79-A9AD-ED89-B57D-B00BD5C548D1}"/>
                  </a:ext>
                </a:extLst>
              </p:cNvPr>
              <p:cNvSpPr/>
              <p:nvPr/>
            </p:nvSpPr>
            <p:spPr>
              <a:xfrm>
                <a:off x="7515481" y="1707882"/>
                <a:ext cx="1348198" cy="368019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endParaRPr lang="zh-CN" altLang="en-US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683A9225-FB17-90F0-3875-666B500B5B66}"/>
                  </a:ext>
                </a:extLst>
              </p:cNvPr>
              <p:cNvSpPr/>
              <p:nvPr/>
            </p:nvSpPr>
            <p:spPr>
              <a:xfrm>
                <a:off x="9094838" y="1707882"/>
                <a:ext cx="973394" cy="103531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F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(5/5 10)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940418E4-74A8-0B17-734B-5E59D7C48F4B}"/>
                  </a:ext>
                </a:extLst>
              </p:cNvPr>
              <p:cNvSpPr/>
              <p:nvPr/>
            </p:nvSpPr>
            <p:spPr>
              <a:xfrm>
                <a:off x="9094838" y="3030320"/>
                <a:ext cx="973394" cy="171865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L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(5/9 4)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0F38CEE4-DD3A-85C6-B73F-780528569437}"/>
                  </a:ext>
                </a:extLst>
              </p:cNvPr>
              <p:cNvSpPr/>
              <p:nvPr/>
            </p:nvSpPr>
            <p:spPr>
              <a:xfrm>
                <a:off x="9094838" y="5036100"/>
                <a:ext cx="973394" cy="5781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H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(12/11 8 3 11 8)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825F1210-DB96-5946-1828-387A430620A3}"/>
                  </a:ext>
                </a:extLst>
              </p:cNvPr>
              <p:cNvSpPr/>
              <p:nvPr/>
            </p:nvSpPr>
            <p:spPr>
              <a:xfrm>
                <a:off x="7799389" y="5614220"/>
                <a:ext cx="786580" cy="90456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K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(2/10 10)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F5AE1A49-4561-6046-F3A3-B3BD0ACC474E}"/>
                  </a:ext>
                </a:extLst>
              </p:cNvPr>
              <p:cNvSpPr/>
              <p:nvPr/>
            </p:nvSpPr>
            <p:spPr>
              <a:xfrm>
                <a:off x="9094836" y="6110750"/>
                <a:ext cx="973393" cy="5781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E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(10/5 8 4)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AD038254-8A79-BBCE-2552-AAAB09BF0198}"/>
                  </a:ext>
                </a:extLst>
              </p:cNvPr>
              <p:cNvSpPr/>
              <p:nvPr/>
            </p:nvSpPr>
            <p:spPr>
              <a:xfrm>
                <a:off x="6317127" y="6110750"/>
                <a:ext cx="973393" cy="5781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D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(3/7 4)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ADE5C6A9-553B-5E58-DB6F-B3944A3A24B2}"/>
                  </a:ext>
                </a:extLst>
              </p:cNvPr>
              <p:cNvSpPr/>
              <p:nvPr/>
            </p:nvSpPr>
            <p:spPr>
              <a:xfrm>
                <a:off x="6310929" y="4237703"/>
                <a:ext cx="973393" cy="11503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B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(7/7 4)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0E5FA459-746D-F64C-73B0-1837A73BA07E}"/>
                  </a:ext>
                </a:extLst>
              </p:cNvPr>
              <p:cNvSpPr/>
              <p:nvPr/>
            </p:nvSpPr>
            <p:spPr>
              <a:xfrm>
                <a:off x="6310927" y="2953127"/>
                <a:ext cx="973393" cy="9242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A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(5/7 8)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E4236E7F-1257-5640-4A82-492D5F8FB880}"/>
                  </a:ext>
                </a:extLst>
              </p:cNvPr>
              <p:cNvSpPr/>
              <p:nvPr/>
            </p:nvSpPr>
            <p:spPr>
              <a:xfrm>
                <a:off x="6310927" y="1707882"/>
                <a:ext cx="973393" cy="9242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G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(2/5 14 8)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F65D9568-0199-94AF-E014-249AF2D8CB93}"/>
                  </a:ext>
                </a:extLst>
              </p:cNvPr>
              <p:cNvSpPr/>
              <p:nvPr/>
            </p:nvSpPr>
            <p:spPr>
              <a:xfrm>
                <a:off x="7519014" y="147484"/>
                <a:ext cx="1344665" cy="133425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J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(1/6 5)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C07ADB25-D549-57B7-AA15-78C1E4BFABD3}"/>
                  </a:ext>
                </a:extLst>
              </p:cNvPr>
              <p:cNvSpPr/>
              <p:nvPr/>
            </p:nvSpPr>
            <p:spPr>
              <a:xfrm>
                <a:off x="9242323" y="147483"/>
                <a:ext cx="825906" cy="133425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I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(3/7 7 8)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090AF126-F1BC-BF2D-EC1F-31E8FA4F5EDE}"/>
                  </a:ext>
                </a:extLst>
              </p:cNvPr>
              <p:cNvSpPr/>
              <p:nvPr/>
            </p:nvSpPr>
            <p:spPr>
              <a:xfrm>
                <a:off x="6310927" y="578898"/>
                <a:ext cx="755700" cy="8079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C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(3/7 4)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</p:grp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FAF07768-DDB8-59B3-5FF9-71D350B89DD2}"/>
                </a:ext>
              </a:extLst>
            </p:cNvPr>
            <p:cNvSpPr txBox="1"/>
            <p:nvPr/>
          </p:nvSpPr>
          <p:spPr>
            <a:xfrm>
              <a:off x="6378670" y="189391"/>
              <a:ext cx="2685351" cy="7260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>
                  <a:gradFill>
                    <a:gsLst>
                      <a:gs pos="55000">
                        <a:srgbClr val="FF5F05"/>
                      </a:gs>
                      <a:gs pos="45000">
                        <a:srgbClr val="13294B"/>
                      </a:gs>
                      <a:gs pos="0">
                        <a:srgbClr val="13294B"/>
                      </a:gs>
                      <a:gs pos="100000">
                        <a:srgbClr val="FF5F05"/>
                      </a:gs>
                    </a:gsLst>
                    <a:lin ang="16200000" scaled="0"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UIUC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Special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Puzzle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zh-CN" sz="1600" i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@Zeta-Xi-Upsilon</a:t>
              </a:r>
              <a:endParaRPr lang="zh-CN" altLang="en-US" sz="1600" i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A1E6ECAD-DB30-7B67-8BE0-7724C4E5C96A}"/>
                </a:ext>
              </a:extLst>
            </p:cNvPr>
            <p:cNvSpPr/>
            <p:nvPr/>
          </p:nvSpPr>
          <p:spPr>
            <a:xfrm>
              <a:off x="6452040" y="3267826"/>
              <a:ext cx="448265" cy="448265"/>
            </a:xfrm>
            <a:prstGeom prst="ellipse">
              <a:avLst/>
            </a:prstGeom>
            <a:solidFill>
              <a:srgbClr val="5A1D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F182473A-979C-EC9A-A5FE-5A1D1C141AC4}"/>
                </a:ext>
              </a:extLst>
            </p:cNvPr>
            <p:cNvSpPr/>
            <p:nvPr/>
          </p:nvSpPr>
          <p:spPr>
            <a:xfrm>
              <a:off x="7214088" y="3267825"/>
              <a:ext cx="448265" cy="448265"/>
            </a:xfrm>
            <a:prstGeom prst="ellipse">
              <a:avLst/>
            </a:prstGeom>
            <a:solidFill>
              <a:srgbClr val="0069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BF628BC5-37D9-2D76-DC24-0980C76B5B54}"/>
                </a:ext>
              </a:extLst>
            </p:cNvPr>
            <p:cNvGrpSpPr/>
            <p:nvPr/>
          </p:nvGrpSpPr>
          <p:grpSpPr>
            <a:xfrm>
              <a:off x="7644645" y="5720545"/>
              <a:ext cx="262800" cy="565200"/>
              <a:chOff x="7721345" y="5718961"/>
              <a:chExt cx="429597" cy="578952"/>
            </a:xfrm>
          </p:grpSpPr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57449FD7-A6B5-A2E7-AB2A-85A8482FD89F}"/>
                  </a:ext>
                </a:extLst>
              </p:cNvPr>
              <p:cNvCxnSpPr/>
              <p:nvPr/>
            </p:nvCxnSpPr>
            <p:spPr>
              <a:xfrm flipH="1">
                <a:off x="7721345" y="5718961"/>
                <a:ext cx="429597" cy="0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3A57713F-57E2-E49E-280D-6E38D38DDC33}"/>
                  </a:ext>
                </a:extLst>
              </p:cNvPr>
              <p:cNvCxnSpPr/>
              <p:nvPr/>
            </p:nvCxnSpPr>
            <p:spPr>
              <a:xfrm>
                <a:off x="7721345" y="5718961"/>
                <a:ext cx="0" cy="578952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1784095F-F8CD-8626-7E66-68BA390A76F9}"/>
                  </a:ext>
                </a:extLst>
              </p:cNvPr>
              <p:cNvCxnSpPr/>
              <p:nvPr/>
            </p:nvCxnSpPr>
            <p:spPr>
              <a:xfrm>
                <a:off x="7721345" y="6297913"/>
                <a:ext cx="429597" cy="0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92A34D5B-4003-F8D4-3D1A-C853BDA027B6}"/>
                </a:ext>
              </a:extLst>
            </p:cNvPr>
            <p:cNvGrpSpPr/>
            <p:nvPr/>
          </p:nvGrpSpPr>
          <p:grpSpPr>
            <a:xfrm flipH="1">
              <a:off x="8676881" y="5720545"/>
              <a:ext cx="262800" cy="565200"/>
              <a:chOff x="7721345" y="5718961"/>
              <a:chExt cx="429597" cy="578952"/>
            </a:xfrm>
          </p:grpSpPr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2208D3AF-FD24-6550-283C-2A719DBC0FCA}"/>
                  </a:ext>
                </a:extLst>
              </p:cNvPr>
              <p:cNvCxnSpPr/>
              <p:nvPr/>
            </p:nvCxnSpPr>
            <p:spPr>
              <a:xfrm flipH="1">
                <a:off x="7721345" y="5718961"/>
                <a:ext cx="429597" cy="0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FE2BBFBE-0730-BEB6-F604-A503FB6FEF37}"/>
                  </a:ext>
                </a:extLst>
              </p:cNvPr>
              <p:cNvCxnSpPr/>
              <p:nvPr/>
            </p:nvCxnSpPr>
            <p:spPr>
              <a:xfrm>
                <a:off x="7721345" y="5718961"/>
                <a:ext cx="0" cy="578952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F4C3A3C3-1E02-4D8A-C0C5-9AF575B110B9}"/>
                  </a:ext>
                </a:extLst>
              </p:cNvPr>
              <p:cNvCxnSpPr/>
              <p:nvPr/>
            </p:nvCxnSpPr>
            <p:spPr>
              <a:xfrm>
                <a:off x="7721345" y="6297913"/>
                <a:ext cx="429597" cy="0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804B51B1-15E5-BB16-20C4-B82E35ABEAC6}"/>
                </a:ext>
              </a:extLst>
            </p:cNvPr>
            <p:cNvGrpSpPr/>
            <p:nvPr/>
          </p:nvGrpSpPr>
          <p:grpSpPr>
            <a:xfrm>
              <a:off x="6493598" y="1362099"/>
              <a:ext cx="2313898" cy="532330"/>
              <a:chOff x="6471651" y="1312930"/>
              <a:chExt cx="2313898" cy="532330"/>
            </a:xfrm>
          </p:grpSpPr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AEBC7926-389C-E38D-C31C-9AA2A5445D43}"/>
                  </a:ext>
                </a:extLst>
              </p:cNvPr>
              <p:cNvSpPr/>
              <p:nvPr/>
            </p:nvSpPr>
            <p:spPr>
              <a:xfrm>
                <a:off x="6471651" y="1319228"/>
                <a:ext cx="526032" cy="526032"/>
              </a:xfrm>
              <a:prstGeom prst="ellipse">
                <a:avLst/>
              </a:prstGeom>
              <a:solidFill>
                <a:srgbClr val="00806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FD5AF105-10D2-E36D-1A00-E7E98B2BB78F}"/>
                  </a:ext>
                </a:extLst>
              </p:cNvPr>
              <p:cNvSpPr/>
              <p:nvPr/>
            </p:nvSpPr>
            <p:spPr>
              <a:xfrm>
                <a:off x="7365584" y="1319228"/>
                <a:ext cx="526032" cy="526032"/>
              </a:xfrm>
              <a:prstGeom prst="ellipse">
                <a:avLst/>
              </a:prstGeom>
              <a:solidFill>
                <a:srgbClr val="9E89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717F3707-47D6-75A1-8021-8501BE2AED75}"/>
                  </a:ext>
                </a:extLst>
              </p:cNvPr>
              <p:cNvSpPr/>
              <p:nvPr/>
            </p:nvSpPr>
            <p:spPr>
              <a:xfrm>
                <a:off x="8259517" y="1312930"/>
                <a:ext cx="526032" cy="526032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5D30C0D7-FDF9-9F0A-5AF5-2A76ABED630D}"/>
                  </a:ext>
                </a:extLst>
              </p:cNvPr>
              <p:cNvSpPr txBox="1"/>
              <p:nvPr/>
            </p:nvSpPr>
            <p:spPr>
              <a:xfrm>
                <a:off x="6967318" y="1381655"/>
                <a:ext cx="132600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＋  　　＝</a:t>
                </a:r>
              </a:p>
            </p:txBody>
          </p: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0B4437FF-8A2F-95FE-77B3-925F145A7682}"/>
                </a:ext>
              </a:extLst>
            </p:cNvPr>
            <p:cNvGrpSpPr/>
            <p:nvPr/>
          </p:nvGrpSpPr>
          <p:grpSpPr>
            <a:xfrm>
              <a:off x="6488682" y="2113930"/>
              <a:ext cx="2313898" cy="532330"/>
              <a:chOff x="6471651" y="1312930"/>
              <a:chExt cx="2313898" cy="532330"/>
            </a:xfrm>
          </p:grpSpPr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AE34D9F0-6A49-1EC7-DA6B-623099686E13}"/>
                  </a:ext>
                </a:extLst>
              </p:cNvPr>
              <p:cNvSpPr/>
              <p:nvPr/>
            </p:nvSpPr>
            <p:spPr>
              <a:xfrm>
                <a:off x="6471651" y="1319228"/>
                <a:ext cx="526032" cy="526032"/>
              </a:xfrm>
              <a:prstGeom prst="ellipse">
                <a:avLst/>
              </a:prstGeom>
              <a:solidFill>
                <a:srgbClr val="A78B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36E9CB07-98AE-E458-5027-F6557D13033D}"/>
                  </a:ext>
                </a:extLst>
              </p:cNvPr>
              <p:cNvSpPr/>
              <p:nvPr/>
            </p:nvSpPr>
            <p:spPr>
              <a:xfrm>
                <a:off x="7365584" y="1319228"/>
                <a:ext cx="526032" cy="526032"/>
              </a:xfrm>
              <a:prstGeom prst="ellipse">
                <a:avLst/>
              </a:prstGeom>
              <a:solidFill>
                <a:srgbClr val="80828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166959BA-675F-44EE-1427-79D3304A4D41}"/>
                  </a:ext>
                </a:extLst>
              </p:cNvPr>
              <p:cNvSpPr/>
              <p:nvPr/>
            </p:nvSpPr>
            <p:spPr>
              <a:xfrm>
                <a:off x="8259517" y="1312930"/>
                <a:ext cx="526032" cy="5260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0ED1715E-54C2-246A-74AD-08458B953A9A}"/>
                  </a:ext>
                </a:extLst>
              </p:cNvPr>
              <p:cNvSpPr txBox="1"/>
              <p:nvPr/>
            </p:nvSpPr>
            <p:spPr>
              <a:xfrm>
                <a:off x="6967318" y="1381655"/>
                <a:ext cx="132600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×  </a:t>
                </a:r>
                <a:r>
                  <a:rPr lang="zh-CN" altLang="en-US" sz="20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　　＝</a:t>
                </a:r>
              </a:p>
            </p:txBody>
          </p:sp>
        </p:grp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802BC602-3143-FDD8-5E21-15A268E9F6BC}"/>
                </a:ext>
              </a:extLst>
            </p:cNvPr>
            <p:cNvSpPr txBox="1"/>
            <p:nvPr/>
          </p:nvSpPr>
          <p:spPr>
            <a:xfrm>
              <a:off x="6235736" y="3298190"/>
              <a:ext cx="28745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(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　－　　</a:t>
              </a:r>
              <a:r>
                <a:rPr lang="en-US" altLang="zh-CN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)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　　＝</a:t>
              </a:r>
              <a:r>
                <a:rPr lang="en-US" altLang="zh-CN" sz="2000" b="1">
                  <a:solidFill>
                    <a:srgbClr val="FF5F05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?</a:t>
              </a:r>
              <a:endParaRPr lang="zh-CN" altLang="en-US" sz="2000" b="1">
                <a:solidFill>
                  <a:srgbClr val="FF5F05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57CB2C62-9ACC-F312-2DDD-EB15247021B5}"/>
                </a:ext>
              </a:extLst>
            </p:cNvPr>
            <p:cNvSpPr txBox="1"/>
            <p:nvPr/>
          </p:nvSpPr>
          <p:spPr>
            <a:xfrm>
              <a:off x="7697741" y="3052188"/>
              <a:ext cx="118811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(</a:t>
              </a:r>
              <a:r>
                <a:rPr lang="zh-CN" altLang="en-US" sz="1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 ＋ 　</a:t>
              </a:r>
              <a:r>
                <a:rPr lang="en-US" altLang="zh-CN" sz="1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)</a:t>
              </a:r>
              <a:r>
                <a:rPr lang="zh-CN" altLang="en-US" sz="1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　</a:t>
              </a:r>
              <a:endParaRPr lang="zh-CN" altLang="en-US" sz="1400"/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3EC8003E-1D5E-A475-D116-A557255A1CAF}"/>
                </a:ext>
              </a:extLst>
            </p:cNvPr>
            <p:cNvSpPr/>
            <p:nvPr/>
          </p:nvSpPr>
          <p:spPr>
            <a:xfrm>
              <a:off x="7854286" y="3090714"/>
              <a:ext cx="227526" cy="227526"/>
            </a:xfrm>
            <a:prstGeom prst="ellipse">
              <a:avLst/>
            </a:prstGeom>
            <a:solidFill>
              <a:srgbClr val="C799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AF3CBB35-AA01-7997-B5DB-16C0F2DE4429}"/>
                </a:ext>
              </a:extLst>
            </p:cNvPr>
            <p:cNvSpPr/>
            <p:nvPr/>
          </p:nvSpPr>
          <p:spPr>
            <a:xfrm>
              <a:off x="8243140" y="3090714"/>
              <a:ext cx="227526" cy="227526"/>
            </a:xfrm>
            <a:prstGeom prst="ellipse">
              <a:avLst/>
            </a:prstGeom>
            <a:solidFill>
              <a:srgbClr val="E713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97282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4AE98-B98F-CB17-2127-AC9A484B9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组合 33">
            <a:extLst>
              <a:ext uri="{FF2B5EF4-FFF2-40B4-BE49-F238E27FC236}">
                <a16:creationId xmlns:a16="http://schemas.microsoft.com/office/drawing/2014/main" id="{E6D8BD7E-2B06-EEEE-2356-F691B0986B39}"/>
              </a:ext>
            </a:extLst>
          </p:cNvPr>
          <p:cNvGrpSpPr/>
          <p:nvPr/>
        </p:nvGrpSpPr>
        <p:grpSpPr>
          <a:xfrm>
            <a:off x="0" y="0"/>
            <a:ext cx="12260825" cy="6858000"/>
            <a:chOff x="0" y="0"/>
            <a:chExt cx="12260825" cy="685800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9C4A4C9-EA62-A970-686B-CF8F56DDF5B9}"/>
                </a:ext>
              </a:extLst>
            </p:cNvPr>
            <p:cNvSpPr/>
            <p:nvPr/>
          </p:nvSpPr>
          <p:spPr>
            <a:xfrm>
              <a:off x="0" y="0"/>
              <a:ext cx="12260825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E3F92529-573B-E4B6-DB3A-9EB9A6E0C236}"/>
                </a:ext>
              </a:extLst>
            </p:cNvPr>
            <p:cNvSpPr txBox="1"/>
            <p:nvPr/>
          </p:nvSpPr>
          <p:spPr>
            <a:xfrm>
              <a:off x="9287000" y="1601406"/>
              <a:ext cx="2696624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These are the colors of the routes of the Champaign-Urbana MTD buses. </a:t>
              </a:r>
            </a:p>
            <a:p>
              <a:r>
                <a:rPr lang="en-US" altLang="zh-CN" sz="16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(Using weekday daytime routes)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75A53E9-D2FE-2C25-5D26-9424D82028AF}"/>
                </a:ext>
              </a:extLst>
            </p:cNvPr>
            <p:cNvSpPr txBox="1"/>
            <p:nvPr/>
          </p:nvSpPr>
          <p:spPr>
            <a:xfrm>
              <a:off x="421808" y="1389435"/>
              <a:ext cx="2451890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Answer:</a:t>
              </a:r>
              <a:endParaRPr lang="en-US" altLang="zh-CN" sz="1600" b="1">
                <a:solidFill>
                  <a:srgbClr val="FF5F05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r>
                <a:rPr lang="en-US" altLang="zh-CN" sz="1600" b="1">
                  <a:solidFill>
                    <a:srgbClr val="FF5F05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ANGULAR MOMENTUM</a:t>
              </a:r>
            </a:p>
            <a:p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→ </a:t>
              </a:r>
              <a:r>
                <a:rPr lang="en-US" altLang="zh-CN" sz="1600" b="1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L</a:t>
              </a:r>
              <a:r>
                <a:rPr lang="en-US" altLang="zh-CN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in META</a:t>
              </a:r>
            </a:p>
          </p:txBody>
        </p:sp>
        <p:sp>
          <p:nvSpPr>
            <p:cNvPr id="5" name="矩形: 对角圆角 4">
              <a:extLst>
                <a:ext uri="{FF2B5EF4-FFF2-40B4-BE49-F238E27FC236}">
                  <a16:creationId xmlns:a16="http://schemas.microsoft.com/office/drawing/2014/main" id="{994D4B37-4626-7381-8E3B-980FA156E4C8}"/>
                </a:ext>
              </a:extLst>
            </p:cNvPr>
            <p:cNvSpPr/>
            <p:nvPr/>
          </p:nvSpPr>
          <p:spPr>
            <a:xfrm flipH="1">
              <a:off x="3072581" y="223686"/>
              <a:ext cx="2910347" cy="2082956"/>
            </a:xfrm>
            <a:prstGeom prst="round2DiagRect">
              <a:avLst>
                <a:gd name="adj1" fmla="val 8170"/>
                <a:gd name="adj2" fmla="val 0"/>
              </a:avLst>
            </a:prstGeom>
            <a:solidFill>
              <a:schemeClr val="bg1"/>
            </a:solidFill>
            <a:ln w="28575">
              <a:solidFill>
                <a:srgbClr val="13294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6" name="矩形: 剪去对角 5">
              <a:extLst>
                <a:ext uri="{FF2B5EF4-FFF2-40B4-BE49-F238E27FC236}">
                  <a16:creationId xmlns:a16="http://schemas.microsoft.com/office/drawing/2014/main" id="{066247DA-750B-30E7-B82C-E5B5935893C9}"/>
                </a:ext>
              </a:extLst>
            </p:cNvPr>
            <p:cNvSpPr/>
            <p:nvPr/>
          </p:nvSpPr>
          <p:spPr>
            <a:xfrm flipH="1">
              <a:off x="6199233" y="1030178"/>
              <a:ext cx="2910348" cy="3015795"/>
            </a:xfrm>
            <a:prstGeom prst="snip2DiagRect">
              <a:avLst>
                <a:gd name="adj1" fmla="val 0"/>
                <a:gd name="adj2" fmla="val 5735"/>
              </a:avLst>
            </a:prstGeom>
            <a:solidFill>
              <a:schemeClr val="bg1"/>
            </a:solidFill>
            <a:ln w="28575">
              <a:solidFill>
                <a:srgbClr val="13294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7" name="矩形: 剪去单角 6">
              <a:extLst>
                <a:ext uri="{FF2B5EF4-FFF2-40B4-BE49-F238E27FC236}">
                  <a16:creationId xmlns:a16="http://schemas.microsoft.com/office/drawing/2014/main" id="{388B771D-3C0B-FC97-2EF8-126D7D7811F5}"/>
                </a:ext>
              </a:extLst>
            </p:cNvPr>
            <p:cNvSpPr/>
            <p:nvPr/>
          </p:nvSpPr>
          <p:spPr>
            <a:xfrm flipV="1">
              <a:off x="3072582" y="2530327"/>
              <a:ext cx="2910347" cy="4017951"/>
            </a:xfrm>
            <a:prstGeom prst="snip1Rect">
              <a:avLst>
                <a:gd name="adj" fmla="val 6532"/>
              </a:avLst>
            </a:prstGeom>
            <a:solidFill>
              <a:schemeClr val="bg1"/>
            </a:solidFill>
            <a:ln w="28575">
              <a:solidFill>
                <a:srgbClr val="13294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F093DA9-A307-B369-4648-6990E7E1B000}"/>
                </a:ext>
              </a:extLst>
            </p:cNvPr>
            <p:cNvSpPr/>
            <p:nvPr/>
          </p:nvSpPr>
          <p:spPr>
            <a:xfrm>
              <a:off x="6199233" y="4269658"/>
              <a:ext cx="2910347" cy="2278626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13294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3294B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111ADFE-9F4E-76D7-6F96-0FC7A7724F67}"/>
                </a:ext>
              </a:extLst>
            </p:cNvPr>
            <p:cNvSpPr txBox="1"/>
            <p:nvPr/>
          </p:nvSpPr>
          <p:spPr>
            <a:xfrm>
              <a:off x="6199233" y="4410321"/>
              <a:ext cx="102255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FF5F05"/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META</a:t>
              </a:r>
              <a:endParaRPr lang="zh-CN" altLang="en-US" sz="2000">
                <a:solidFill>
                  <a:srgbClr val="FF5F05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8F9C980C-6F9F-80E3-6213-14CCD24E7D1A}"/>
                </a:ext>
              </a:extLst>
            </p:cNvPr>
            <p:cNvSpPr txBox="1"/>
            <p:nvPr/>
          </p:nvSpPr>
          <p:spPr>
            <a:xfrm>
              <a:off x="6651509" y="5007078"/>
              <a:ext cx="2005794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Who is he? (7)</a:t>
              </a:r>
              <a:endParaRPr lang="zh-CN" altLang="en-US" sz="20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4" name="矩形: 对角圆角 13">
              <a:extLst>
                <a:ext uri="{FF2B5EF4-FFF2-40B4-BE49-F238E27FC236}">
                  <a16:creationId xmlns:a16="http://schemas.microsoft.com/office/drawing/2014/main" id="{D57CEA6A-9DB2-5B51-7439-95126F72025B}"/>
                </a:ext>
              </a:extLst>
            </p:cNvPr>
            <p:cNvSpPr/>
            <p:nvPr/>
          </p:nvSpPr>
          <p:spPr>
            <a:xfrm flipH="1">
              <a:off x="6349174" y="5718961"/>
              <a:ext cx="526032" cy="568368"/>
            </a:xfrm>
            <a:prstGeom prst="round2DiagRect">
              <a:avLst>
                <a:gd name="adj1" fmla="val 24985"/>
                <a:gd name="adj2" fmla="val 0"/>
              </a:avLst>
            </a:prstGeom>
            <a:noFill/>
            <a:ln w="28575">
              <a:solidFill>
                <a:srgbClr val="FF5F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3294B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5" name="矩形: 剪去对角 14">
              <a:extLst>
                <a:ext uri="{FF2B5EF4-FFF2-40B4-BE49-F238E27FC236}">
                  <a16:creationId xmlns:a16="http://schemas.microsoft.com/office/drawing/2014/main" id="{D7F3A66E-B7E5-1978-DBFC-7B44F6A04432}"/>
                </a:ext>
              </a:extLst>
            </p:cNvPr>
            <p:cNvSpPr/>
            <p:nvPr/>
          </p:nvSpPr>
          <p:spPr>
            <a:xfrm flipH="1">
              <a:off x="8029148" y="5718961"/>
              <a:ext cx="526032" cy="568369"/>
            </a:xfrm>
            <a:prstGeom prst="snip2DiagRect">
              <a:avLst>
                <a:gd name="adj1" fmla="val 0"/>
                <a:gd name="adj2" fmla="val 24731"/>
              </a:avLst>
            </a:prstGeom>
            <a:noFill/>
            <a:ln w="28575">
              <a:solidFill>
                <a:srgbClr val="FF5F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3294B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6" name="矩形: 剪去单角 15">
              <a:extLst>
                <a:ext uri="{FF2B5EF4-FFF2-40B4-BE49-F238E27FC236}">
                  <a16:creationId xmlns:a16="http://schemas.microsoft.com/office/drawing/2014/main" id="{E54402DC-C0E0-58E3-E9CD-072140A16192}"/>
                </a:ext>
              </a:extLst>
            </p:cNvPr>
            <p:cNvSpPr/>
            <p:nvPr/>
          </p:nvSpPr>
          <p:spPr>
            <a:xfrm>
              <a:off x="6996909" y="5720746"/>
              <a:ext cx="526033" cy="564799"/>
            </a:xfrm>
            <a:prstGeom prst="snip1Rect">
              <a:avLst>
                <a:gd name="adj" fmla="val 25223"/>
              </a:avLst>
            </a:prstGeom>
            <a:noFill/>
            <a:ln w="28575">
              <a:solidFill>
                <a:srgbClr val="FF5F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000">
                <a:solidFill>
                  <a:srgbClr val="13294B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0D6B3CE-5082-C698-6490-66051CCF876B}"/>
                </a:ext>
              </a:extLst>
            </p:cNvPr>
            <p:cNvSpPr txBox="1"/>
            <p:nvPr/>
          </p:nvSpPr>
          <p:spPr>
            <a:xfrm>
              <a:off x="3003313" y="1573161"/>
              <a:ext cx="3048882" cy="6583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en-US" altLang="zh-CN" sz="1600" b="1">
                  <a:solidFill>
                    <a:srgbClr val="FF5F05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32 02 34 21 15 24 22</a:t>
              </a:r>
            </a:p>
            <a:p>
              <a:pPr algn="ctr">
                <a:lnSpc>
                  <a:spcPct val="120000"/>
                </a:lnSpc>
              </a:pPr>
              <a:r>
                <a:rPr lang="en-US" altLang="zh-CN" sz="1600" b="1">
                  <a:solidFill>
                    <a:srgbClr val="FF5F05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30 18 30 05 17 09 01 30</a:t>
              </a:r>
              <a:endParaRPr lang="zh-CN" altLang="en-US" sz="1600" b="1">
                <a:solidFill>
                  <a:srgbClr val="FF5F05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23BDB9B9-1E6E-83D3-6351-D9445323ECA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089214" y="357558"/>
              <a:ext cx="877080" cy="1215602"/>
            </a:xfrm>
            <a:prstGeom prst="rect">
              <a:avLst/>
            </a:prstGeom>
          </p:spPr>
        </p:pic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82C09C35-797B-C057-27C1-5D3A0BA29AAE}"/>
                </a:ext>
              </a:extLst>
            </p:cNvPr>
            <p:cNvSpPr txBox="1"/>
            <p:nvPr/>
          </p:nvSpPr>
          <p:spPr>
            <a:xfrm>
              <a:off x="4277244" y="780695"/>
              <a:ext cx="5010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35</a:t>
              </a:r>
              <a:endParaRPr lang="zh-CN" altLang="en-US" b="1">
                <a:solidFill>
                  <a:srgbClr val="13294B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50" name="组合 49">
              <a:extLst>
                <a:ext uri="{FF2B5EF4-FFF2-40B4-BE49-F238E27FC236}">
                  <a16:creationId xmlns:a16="http://schemas.microsoft.com/office/drawing/2014/main" id="{765553E7-BFAD-98F1-A3D2-DD8DFFB1F9B2}"/>
                </a:ext>
              </a:extLst>
            </p:cNvPr>
            <p:cNvGrpSpPr/>
            <p:nvPr/>
          </p:nvGrpSpPr>
          <p:grpSpPr>
            <a:xfrm>
              <a:off x="3354294" y="2724090"/>
              <a:ext cx="2107567" cy="3669227"/>
              <a:chOff x="6310927" y="147483"/>
              <a:chExt cx="3757305" cy="6541387"/>
            </a:xfrm>
            <a:solidFill>
              <a:schemeClr val="bg1">
                <a:lumMod val="85000"/>
              </a:schemeClr>
            </a:solidFill>
          </p:grpSpPr>
          <p:sp>
            <p:nvSpPr>
              <p:cNvPr id="51" name="矩形 50">
                <a:extLst>
                  <a:ext uri="{FF2B5EF4-FFF2-40B4-BE49-F238E27FC236}">
                    <a16:creationId xmlns:a16="http://schemas.microsoft.com/office/drawing/2014/main" id="{6DC54FD0-0775-EF77-52B4-CC99A2F6B602}"/>
                  </a:ext>
                </a:extLst>
              </p:cNvPr>
              <p:cNvSpPr/>
              <p:nvPr/>
            </p:nvSpPr>
            <p:spPr>
              <a:xfrm>
                <a:off x="7515481" y="1707882"/>
                <a:ext cx="1348198" cy="3680196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>
                    <a:solidFill>
                      <a:schemeClr val="tx1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Main</a:t>
                </a:r>
              </a:p>
              <a:p>
                <a:pPr algn="ctr"/>
                <a:r>
                  <a:rPr lang="en-US" altLang="zh-CN" sz="1400">
                    <a:solidFill>
                      <a:schemeClr val="tx1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Quad</a:t>
                </a:r>
                <a:endParaRPr lang="zh-CN" altLang="en-US" sz="1400">
                  <a:solidFill>
                    <a:schemeClr val="tx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2" name="矩形 51">
                <a:extLst>
                  <a:ext uri="{FF2B5EF4-FFF2-40B4-BE49-F238E27FC236}">
                    <a16:creationId xmlns:a16="http://schemas.microsoft.com/office/drawing/2014/main" id="{382A962E-BBFD-AF54-6168-C332FA226A1E}"/>
                  </a:ext>
                </a:extLst>
              </p:cNvPr>
              <p:cNvSpPr/>
              <p:nvPr/>
            </p:nvSpPr>
            <p:spPr>
              <a:xfrm>
                <a:off x="9094838" y="1707882"/>
                <a:ext cx="973394" cy="1035318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F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(5/5 10)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3" name="矩形 52">
                <a:extLst>
                  <a:ext uri="{FF2B5EF4-FFF2-40B4-BE49-F238E27FC236}">
                    <a16:creationId xmlns:a16="http://schemas.microsoft.com/office/drawing/2014/main" id="{C9C32114-08B1-148C-F2BE-B6E2042F240A}"/>
                  </a:ext>
                </a:extLst>
              </p:cNvPr>
              <p:cNvSpPr/>
              <p:nvPr/>
            </p:nvSpPr>
            <p:spPr>
              <a:xfrm>
                <a:off x="9094838" y="3030320"/>
                <a:ext cx="973394" cy="1718659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L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(5/9 4)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4" name="矩形 53">
                <a:extLst>
                  <a:ext uri="{FF2B5EF4-FFF2-40B4-BE49-F238E27FC236}">
                    <a16:creationId xmlns:a16="http://schemas.microsoft.com/office/drawing/2014/main" id="{95ACC51B-7406-0EE8-B9EB-AB721268A82F}"/>
                  </a:ext>
                </a:extLst>
              </p:cNvPr>
              <p:cNvSpPr/>
              <p:nvPr/>
            </p:nvSpPr>
            <p:spPr>
              <a:xfrm>
                <a:off x="9094838" y="5036100"/>
                <a:ext cx="973394" cy="5781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H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(12/11 8 3 11 8)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5" name="矩形 54">
                <a:extLst>
                  <a:ext uri="{FF2B5EF4-FFF2-40B4-BE49-F238E27FC236}">
                    <a16:creationId xmlns:a16="http://schemas.microsoft.com/office/drawing/2014/main" id="{A168329F-721A-CC28-F22F-20AACFA44273}"/>
                  </a:ext>
                </a:extLst>
              </p:cNvPr>
              <p:cNvSpPr/>
              <p:nvPr/>
            </p:nvSpPr>
            <p:spPr>
              <a:xfrm>
                <a:off x="7799389" y="5614220"/>
                <a:ext cx="786580" cy="904567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K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(2/10 10)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6" name="矩形 55">
                <a:extLst>
                  <a:ext uri="{FF2B5EF4-FFF2-40B4-BE49-F238E27FC236}">
                    <a16:creationId xmlns:a16="http://schemas.microsoft.com/office/drawing/2014/main" id="{BB957FED-B770-5252-4AE5-53D068370C4A}"/>
                  </a:ext>
                </a:extLst>
              </p:cNvPr>
              <p:cNvSpPr/>
              <p:nvPr/>
            </p:nvSpPr>
            <p:spPr>
              <a:xfrm>
                <a:off x="9094836" y="6110750"/>
                <a:ext cx="973393" cy="5781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E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(10/5 8 4)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69E4CA7B-72BC-F14F-6EE9-771F7D5458AB}"/>
                  </a:ext>
                </a:extLst>
              </p:cNvPr>
              <p:cNvSpPr/>
              <p:nvPr/>
            </p:nvSpPr>
            <p:spPr>
              <a:xfrm>
                <a:off x="6317127" y="6110750"/>
                <a:ext cx="973393" cy="5781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D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(3/7 4)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8" name="矩形 57">
                <a:extLst>
                  <a:ext uri="{FF2B5EF4-FFF2-40B4-BE49-F238E27FC236}">
                    <a16:creationId xmlns:a16="http://schemas.microsoft.com/office/drawing/2014/main" id="{7FB2B8DE-7EF0-CCC4-6349-819A28B54E67}"/>
                  </a:ext>
                </a:extLst>
              </p:cNvPr>
              <p:cNvSpPr/>
              <p:nvPr/>
            </p:nvSpPr>
            <p:spPr>
              <a:xfrm>
                <a:off x="6310929" y="4237703"/>
                <a:ext cx="973393" cy="115037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B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(7/7 4)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CAEF3B80-580F-271B-A2E5-75F3DEC578A7}"/>
                  </a:ext>
                </a:extLst>
              </p:cNvPr>
              <p:cNvSpPr/>
              <p:nvPr/>
            </p:nvSpPr>
            <p:spPr>
              <a:xfrm>
                <a:off x="6310927" y="2953127"/>
                <a:ext cx="973393" cy="9242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A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(5/7 8)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id="{B683D9C6-3571-847C-84EF-409BCB1DADA4}"/>
                  </a:ext>
                </a:extLst>
              </p:cNvPr>
              <p:cNvSpPr/>
              <p:nvPr/>
            </p:nvSpPr>
            <p:spPr>
              <a:xfrm>
                <a:off x="6310927" y="1707882"/>
                <a:ext cx="973393" cy="924234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G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(2/5 14 8)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1" name="矩形 60">
                <a:extLst>
                  <a:ext uri="{FF2B5EF4-FFF2-40B4-BE49-F238E27FC236}">
                    <a16:creationId xmlns:a16="http://schemas.microsoft.com/office/drawing/2014/main" id="{08F3D626-02DE-110F-5CB8-C91B75881957}"/>
                  </a:ext>
                </a:extLst>
              </p:cNvPr>
              <p:cNvSpPr/>
              <p:nvPr/>
            </p:nvSpPr>
            <p:spPr>
              <a:xfrm>
                <a:off x="7519014" y="147484"/>
                <a:ext cx="1344665" cy="133425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J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(1/6 5)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2" name="矩形 61">
                <a:extLst>
                  <a:ext uri="{FF2B5EF4-FFF2-40B4-BE49-F238E27FC236}">
                    <a16:creationId xmlns:a16="http://schemas.microsoft.com/office/drawing/2014/main" id="{7A1D549B-9C1D-A719-F1F8-6184AD64455A}"/>
                  </a:ext>
                </a:extLst>
              </p:cNvPr>
              <p:cNvSpPr/>
              <p:nvPr/>
            </p:nvSpPr>
            <p:spPr>
              <a:xfrm>
                <a:off x="9242323" y="147483"/>
                <a:ext cx="825906" cy="1334255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I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(3/7 7 8)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3" name="矩形 62">
                <a:extLst>
                  <a:ext uri="{FF2B5EF4-FFF2-40B4-BE49-F238E27FC236}">
                    <a16:creationId xmlns:a16="http://schemas.microsoft.com/office/drawing/2014/main" id="{150492B8-32F1-D7BD-82F3-8BB51E8AAEF3}"/>
                  </a:ext>
                </a:extLst>
              </p:cNvPr>
              <p:cNvSpPr/>
              <p:nvPr/>
            </p:nvSpPr>
            <p:spPr>
              <a:xfrm>
                <a:off x="6310927" y="578898"/>
                <a:ext cx="755700" cy="807973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sz="1400" b="1">
                    <a:solidFill>
                      <a:srgbClr val="FF5F05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C</a:t>
                </a:r>
                <a:r>
                  <a:rPr lang="en-US" altLang="zh-CN" sz="1400" b="1">
                    <a:solidFill>
                      <a:srgbClr val="13294B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 (3/7 4)</a:t>
                </a:r>
                <a:endPara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</p:grpSp>
        <p:sp>
          <p:nvSpPr>
            <p:cNvPr id="65" name="文本框 64">
              <a:extLst>
                <a:ext uri="{FF2B5EF4-FFF2-40B4-BE49-F238E27FC236}">
                  <a16:creationId xmlns:a16="http://schemas.microsoft.com/office/drawing/2014/main" id="{1DF4F961-BE92-6523-93C5-B8620D6BDEDF}"/>
                </a:ext>
              </a:extLst>
            </p:cNvPr>
            <p:cNvSpPr txBox="1"/>
            <p:nvPr/>
          </p:nvSpPr>
          <p:spPr>
            <a:xfrm>
              <a:off x="6378670" y="189391"/>
              <a:ext cx="2685351" cy="7260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altLang="zh-CN" sz="2000">
                  <a:gradFill>
                    <a:gsLst>
                      <a:gs pos="55000">
                        <a:srgbClr val="FF5F05"/>
                      </a:gs>
                      <a:gs pos="45000">
                        <a:srgbClr val="13294B"/>
                      </a:gs>
                      <a:gs pos="0">
                        <a:srgbClr val="13294B"/>
                      </a:gs>
                      <a:gs pos="100000">
                        <a:srgbClr val="FF5F05"/>
                      </a:gs>
                    </a:gsLst>
                    <a:lin ang="16200000" scaled="0"/>
                  </a:gra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UIUC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Special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Puzzle</a:t>
              </a:r>
            </a:p>
            <a:p>
              <a:pPr algn="r">
                <a:lnSpc>
                  <a:spcPct val="150000"/>
                </a:lnSpc>
              </a:pPr>
              <a:r>
                <a:rPr lang="en-US" altLang="zh-CN" sz="1600" i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@Zeta-Xi-Upsilon</a:t>
              </a:r>
              <a:endParaRPr lang="zh-CN" altLang="en-US" sz="1600" i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70" name="椭圆 69">
              <a:extLst>
                <a:ext uri="{FF2B5EF4-FFF2-40B4-BE49-F238E27FC236}">
                  <a16:creationId xmlns:a16="http://schemas.microsoft.com/office/drawing/2014/main" id="{6C2AAD99-0255-7012-9617-872623A60DFB}"/>
                </a:ext>
              </a:extLst>
            </p:cNvPr>
            <p:cNvSpPr/>
            <p:nvPr/>
          </p:nvSpPr>
          <p:spPr>
            <a:xfrm>
              <a:off x="6452040" y="3267826"/>
              <a:ext cx="448265" cy="448265"/>
            </a:xfrm>
            <a:prstGeom prst="ellipse">
              <a:avLst/>
            </a:prstGeom>
            <a:solidFill>
              <a:srgbClr val="5A1D5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22</a:t>
              </a:r>
              <a:endParaRPr lang="zh-CN" altLang="en-US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73" name="椭圆 72">
              <a:extLst>
                <a:ext uri="{FF2B5EF4-FFF2-40B4-BE49-F238E27FC236}">
                  <a16:creationId xmlns:a16="http://schemas.microsoft.com/office/drawing/2014/main" id="{A3A2F9E7-76DA-17A1-0AC5-EAC8F3A5613F}"/>
                </a:ext>
              </a:extLst>
            </p:cNvPr>
            <p:cNvSpPr/>
            <p:nvPr/>
          </p:nvSpPr>
          <p:spPr>
            <a:xfrm>
              <a:off x="7214088" y="3267825"/>
              <a:ext cx="448265" cy="448265"/>
            </a:xfrm>
            <a:prstGeom prst="ellipse">
              <a:avLst/>
            </a:prstGeom>
            <a:solidFill>
              <a:srgbClr val="00699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12</a:t>
              </a:r>
              <a:endParaRPr lang="zh-CN" altLang="en-US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id="{EDD081E2-C2A1-2264-47D8-AAEF70521EFA}"/>
                </a:ext>
              </a:extLst>
            </p:cNvPr>
            <p:cNvGrpSpPr/>
            <p:nvPr/>
          </p:nvGrpSpPr>
          <p:grpSpPr>
            <a:xfrm>
              <a:off x="7644645" y="5720545"/>
              <a:ext cx="262800" cy="565200"/>
              <a:chOff x="7721345" y="5718961"/>
              <a:chExt cx="429597" cy="578952"/>
            </a:xfrm>
          </p:grpSpPr>
          <p:cxnSp>
            <p:nvCxnSpPr>
              <p:cNvPr id="79" name="直接连接符 78">
                <a:extLst>
                  <a:ext uri="{FF2B5EF4-FFF2-40B4-BE49-F238E27FC236}">
                    <a16:creationId xmlns:a16="http://schemas.microsoft.com/office/drawing/2014/main" id="{50F85EA9-8FBA-0A3F-6270-A53AC6768185}"/>
                  </a:ext>
                </a:extLst>
              </p:cNvPr>
              <p:cNvCxnSpPr/>
              <p:nvPr/>
            </p:nvCxnSpPr>
            <p:spPr>
              <a:xfrm flipH="1">
                <a:off x="7721345" y="5718961"/>
                <a:ext cx="429597" cy="0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直接连接符 80">
                <a:extLst>
                  <a:ext uri="{FF2B5EF4-FFF2-40B4-BE49-F238E27FC236}">
                    <a16:creationId xmlns:a16="http://schemas.microsoft.com/office/drawing/2014/main" id="{EA295B65-4CAE-3A27-0013-E0506BB74312}"/>
                  </a:ext>
                </a:extLst>
              </p:cNvPr>
              <p:cNvCxnSpPr/>
              <p:nvPr/>
            </p:nvCxnSpPr>
            <p:spPr>
              <a:xfrm>
                <a:off x="7721345" y="5718961"/>
                <a:ext cx="0" cy="578952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>
                <a:extLst>
                  <a:ext uri="{FF2B5EF4-FFF2-40B4-BE49-F238E27FC236}">
                    <a16:creationId xmlns:a16="http://schemas.microsoft.com/office/drawing/2014/main" id="{94C35D69-1BD6-5BF9-E2F6-437900110811}"/>
                  </a:ext>
                </a:extLst>
              </p:cNvPr>
              <p:cNvCxnSpPr/>
              <p:nvPr/>
            </p:nvCxnSpPr>
            <p:spPr>
              <a:xfrm>
                <a:off x="7721345" y="6297913"/>
                <a:ext cx="429597" cy="0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id="{20B48472-8120-8835-9D91-B785919DF007}"/>
                </a:ext>
              </a:extLst>
            </p:cNvPr>
            <p:cNvGrpSpPr/>
            <p:nvPr/>
          </p:nvGrpSpPr>
          <p:grpSpPr>
            <a:xfrm flipH="1">
              <a:off x="8676881" y="5720545"/>
              <a:ext cx="262800" cy="565200"/>
              <a:chOff x="7721345" y="5718961"/>
              <a:chExt cx="429597" cy="578952"/>
            </a:xfrm>
          </p:grpSpPr>
          <p:cxnSp>
            <p:nvCxnSpPr>
              <p:cNvPr id="88" name="直接连接符 87">
                <a:extLst>
                  <a:ext uri="{FF2B5EF4-FFF2-40B4-BE49-F238E27FC236}">
                    <a16:creationId xmlns:a16="http://schemas.microsoft.com/office/drawing/2014/main" id="{5FEDF88A-230D-297F-01D2-A532C78C852B}"/>
                  </a:ext>
                </a:extLst>
              </p:cNvPr>
              <p:cNvCxnSpPr/>
              <p:nvPr/>
            </p:nvCxnSpPr>
            <p:spPr>
              <a:xfrm flipH="1">
                <a:off x="7721345" y="5718961"/>
                <a:ext cx="429597" cy="0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直接连接符 88">
                <a:extLst>
                  <a:ext uri="{FF2B5EF4-FFF2-40B4-BE49-F238E27FC236}">
                    <a16:creationId xmlns:a16="http://schemas.microsoft.com/office/drawing/2014/main" id="{11E33F58-7058-3E7E-3712-495772ED4EE9}"/>
                  </a:ext>
                </a:extLst>
              </p:cNvPr>
              <p:cNvCxnSpPr/>
              <p:nvPr/>
            </p:nvCxnSpPr>
            <p:spPr>
              <a:xfrm>
                <a:off x="7721345" y="5718961"/>
                <a:ext cx="0" cy="578952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>
                <a:extLst>
                  <a:ext uri="{FF2B5EF4-FFF2-40B4-BE49-F238E27FC236}">
                    <a16:creationId xmlns:a16="http://schemas.microsoft.com/office/drawing/2014/main" id="{E5C93B8B-818B-A083-4233-C1013910531C}"/>
                  </a:ext>
                </a:extLst>
              </p:cNvPr>
              <p:cNvCxnSpPr/>
              <p:nvPr/>
            </p:nvCxnSpPr>
            <p:spPr>
              <a:xfrm>
                <a:off x="7721345" y="6297913"/>
                <a:ext cx="429597" cy="0"/>
              </a:xfrm>
              <a:prstGeom prst="line">
                <a:avLst/>
              </a:prstGeom>
              <a:ln w="28575" cap="sq">
                <a:solidFill>
                  <a:srgbClr val="FF5F0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2" name="组合 91">
              <a:extLst>
                <a:ext uri="{FF2B5EF4-FFF2-40B4-BE49-F238E27FC236}">
                  <a16:creationId xmlns:a16="http://schemas.microsoft.com/office/drawing/2014/main" id="{83B9C526-EE10-B56C-9EC4-C10BB9E73BD0}"/>
                </a:ext>
              </a:extLst>
            </p:cNvPr>
            <p:cNvGrpSpPr/>
            <p:nvPr/>
          </p:nvGrpSpPr>
          <p:grpSpPr>
            <a:xfrm>
              <a:off x="6493598" y="1362099"/>
              <a:ext cx="2313898" cy="532330"/>
              <a:chOff x="6471651" y="1312930"/>
              <a:chExt cx="2313898" cy="532330"/>
            </a:xfrm>
          </p:grpSpPr>
          <p:sp>
            <p:nvSpPr>
              <p:cNvPr id="66" name="椭圆 65">
                <a:extLst>
                  <a:ext uri="{FF2B5EF4-FFF2-40B4-BE49-F238E27FC236}">
                    <a16:creationId xmlns:a16="http://schemas.microsoft.com/office/drawing/2014/main" id="{DA901906-ED30-F1B0-A248-77AB55D90CAC}"/>
                  </a:ext>
                </a:extLst>
              </p:cNvPr>
              <p:cNvSpPr/>
              <p:nvPr/>
            </p:nvSpPr>
            <p:spPr>
              <a:xfrm>
                <a:off x="6471651" y="1319228"/>
                <a:ext cx="526032" cy="526032"/>
              </a:xfrm>
              <a:prstGeom prst="ellipse">
                <a:avLst/>
              </a:prstGeom>
              <a:solidFill>
                <a:srgbClr val="008063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5</a:t>
                </a:r>
                <a:endParaRPr lang="zh-CN" altLang="en-US" b="1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68" name="椭圆 67">
                <a:extLst>
                  <a:ext uri="{FF2B5EF4-FFF2-40B4-BE49-F238E27FC236}">
                    <a16:creationId xmlns:a16="http://schemas.microsoft.com/office/drawing/2014/main" id="{37B2AFE1-EE4F-325A-090B-799B4D8BE2CD}"/>
                  </a:ext>
                </a:extLst>
              </p:cNvPr>
              <p:cNvSpPr/>
              <p:nvPr/>
            </p:nvSpPr>
            <p:spPr>
              <a:xfrm>
                <a:off x="7365584" y="1319228"/>
                <a:ext cx="526032" cy="526032"/>
              </a:xfrm>
              <a:prstGeom prst="ellipse">
                <a:avLst/>
              </a:prstGeom>
              <a:solidFill>
                <a:srgbClr val="9E8966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8</a:t>
                </a:r>
                <a:endParaRPr lang="zh-CN" altLang="en-US" b="1">
                  <a:solidFill>
                    <a:schemeClr val="tx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71" name="椭圆 70">
                <a:extLst>
                  <a:ext uri="{FF2B5EF4-FFF2-40B4-BE49-F238E27FC236}">
                    <a16:creationId xmlns:a16="http://schemas.microsoft.com/office/drawing/2014/main" id="{6ABBBBFE-2F9D-220F-DBE6-FDEFD1D084F7}"/>
                  </a:ext>
                </a:extLst>
              </p:cNvPr>
              <p:cNvSpPr/>
              <p:nvPr/>
            </p:nvSpPr>
            <p:spPr>
              <a:xfrm>
                <a:off x="8259517" y="1312930"/>
                <a:ext cx="526032" cy="526032"/>
              </a:xfrm>
              <a:prstGeom prst="ellipse">
                <a:avLst/>
              </a:prstGeom>
              <a:solidFill>
                <a:srgbClr val="CCCCC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13</a:t>
                </a:r>
                <a:endParaRPr lang="zh-CN" altLang="en-US" b="1">
                  <a:solidFill>
                    <a:schemeClr val="tx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A108EE5A-B7D2-468B-190E-15E02425CB97}"/>
                  </a:ext>
                </a:extLst>
              </p:cNvPr>
              <p:cNvSpPr txBox="1"/>
              <p:nvPr/>
            </p:nvSpPr>
            <p:spPr>
              <a:xfrm>
                <a:off x="6967318" y="1381655"/>
                <a:ext cx="132600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20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＋  　　＝</a:t>
                </a:r>
              </a:p>
            </p:txBody>
          </p:sp>
        </p:grpSp>
        <p:grpSp>
          <p:nvGrpSpPr>
            <p:cNvPr id="98" name="组合 97">
              <a:extLst>
                <a:ext uri="{FF2B5EF4-FFF2-40B4-BE49-F238E27FC236}">
                  <a16:creationId xmlns:a16="http://schemas.microsoft.com/office/drawing/2014/main" id="{44CB274E-2D95-7164-8ADC-7C99758AC96F}"/>
                </a:ext>
              </a:extLst>
            </p:cNvPr>
            <p:cNvGrpSpPr/>
            <p:nvPr/>
          </p:nvGrpSpPr>
          <p:grpSpPr>
            <a:xfrm>
              <a:off x="6488682" y="2113930"/>
              <a:ext cx="2313898" cy="532330"/>
              <a:chOff x="6471651" y="1312930"/>
              <a:chExt cx="2313898" cy="532330"/>
            </a:xfrm>
          </p:grpSpPr>
          <p:sp>
            <p:nvSpPr>
              <p:cNvPr id="99" name="椭圆 98">
                <a:extLst>
                  <a:ext uri="{FF2B5EF4-FFF2-40B4-BE49-F238E27FC236}">
                    <a16:creationId xmlns:a16="http://schemas.microsoft.com/office/drawing/2014/main" id="{D2EDA24D-220E-192B-FEC5-14EFD2EB3D3E}"/>
                  </a:ext>
                </a:extLst>
              </p:cNvPr>
              <p:cNvSpPr/>
              <p:nvPr/>
            </p:nvSpPr>
            <p:spPr>
              <a:xfrm>
                <a:off x="6471651" y="1319228"/>
                <a:ext cx="526032" cy="526032"/>
              </a:xfrm>
              <a:prstGeom prst="ellipse">
                <a:avLst/>
              </a:prstGeom>
              <a:solidFill>
                <a:srgbClr val="A78B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3</a:t>
                </a:r>
                <a:endParaRPr lang="zh-CN" altLang="en-US" b="1">
                  <a:solidFill>
                    <a:schemeClr val="tx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100" name="椭圆 99">
                <a:extLst>
                  <a:ext uri="{FF2B5EF4-FFF2-40B4-BE49-F238E27FC236}">
                    <a16:creationId xmlns:a16="http://schemas.microsoft.com/office/drawing/2014/main" id="{9DC468B2-2517-10E6-75C9-F1AEFE2ED8A8}"/>
                  </a:ext>
                </a:extLst>
              </p:cNvPr>
              <p:cNvSpPr/>
              <p:nvPr/>
            </p:nvSpPr>
            <p:spPr>
              <a:xfrm>
                <a:off x="7365584" y="1319228"/>
                <a:ext cx="526032" cy="526032"/>
              </a:xfrm>
              <a:prstGeom prst="ellipse">
                <a:avLst/>
              </a:prstGeom>
              <a:solidFill>
                <a:srgbClr val="80828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b="1">
                    <a:solidFill>
                      <a:schemeClr val="tx1"/>
                    </a:solidFill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7</a:t>
                </a:r>
                <a:endParaRPr lang="zh-CN" altLang="en-US" b="1">
                  <a:solidFill>
                    <a:schemeClr val="tx1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101" name="椭圆 100">
                <a:extLst>
                  <a:ext uri="{FF2B5EF4-FFF2-40B4-BE49-F238E27FC236}">
                    <a16:creationId xmlns:a16="http://schemas.microsoft.com/office/drawing/2014/main" id="{BD5CABAA-9118-C6EA-B515-99345D67A22D}"/>
                  </a:ext>
                </a:extLst>
              </p:cNvPr>
              <p:cNvSpPr/>
              <p:nvPr/>
            </p:nvSpPr>
            <p:spPr>
              <a:xfrm>
                <a:off x="8259517" y="1312930"/>
                <a:ext cx="526032" cy="526032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zh-CN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21</a:t>
                </a:r>
                <a:endParaRPr lang="zh-CN" altLang="en-US" b="1">
                  <a:latin typeface="思源黑体 CN" panose="020B0500000000000000" pitchFamily="34" charset="-122"/>
                  <a:ea typeface="思源黑体 CN" panose="020B0500000000000000" pitchFamily="34" charset="-122"/>
                </a:endParaRPr>
              </a:p>
            </p:txBody>
          </p:sp>
          <p:sp>
            <p:nvSpPr>
              <p:cNvPr id="102" name="文本框 101">
                <a:extLst>
                  <a:ext uri="{FF2B5EF4-FFF2-40B4-BE49-F238E27FC236}">
                    <a16:creationId xmlns:a16="http://schemas.microsoft.com/office/drawing/2014/main" id="{F025A54A-5A66-FAFE-DE07-CCB43CB157F9}"/>
                  </a:ext>
                </a:extLst>
              </p:cNvPr>
              <p:cNvSpPr txBox="1"/>
              <p:nvPr/>
            </p:nvSpPr>
            <p:spPr>
              <a:xfrm>
                <a:off x="6967318" y="1381655"/>
                <a:ext cx="1326004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×  </a:t>
                </a:r>
                <a:r>
                  <a:rPr lang="zh-CN" altLang="en-US" sz="2000" b="1">
                    <a:latin typeface="思源黑体 CN" panose="020B0500000000000000" pitchFamily="34" charset="-122"/>
                    <a:ea typeface="思源黑体 CN" panose="020B0500000000000000" pitchFamily="34" charset="-122"/>
                  </a:rPr>
                  <a:t>　　＝</a:t>
                </a:r>
              </a:p>
            </p:txBody>
          </p:sp>
        </p:grpSp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13FD93D4-BFEE-16B6-05C0-9353D8109873}"/>
                </a:ext>
              </a:extLst>
            </p:cNvPr>
            <p:cNvSpPr txBox="1"/>
            <p:nvPr/>
          </p:nvSpPr>
          <p:spPr>
            <a:xfrm>
              <a:off x="6235736" y="3298190"/>
              <a:ext cx="291618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(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　－　　</a:t>
              </a:r>
              <a:r>
                <a:rPr lang="en-US" altLang="zh-CN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)</a:t>
              </a:r>
              <a:r>
                <a:rPr lang="zh-CN" altLang="en-US" sz="20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　　＝</a:t>
              </a:r>
              <a:r>
                <a:rPr lang="en-US" altLang="zh-CN" sz="2000" b="1">
                  <a:solidFill>
                    <a:srgbClr val="FF5F05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?</a:t>
              </a:r>
              <a:endParaRPr lang="zh-CN" altLang="en-US" sz="2000" b="1">
                <a:solidFill>
                  <a:srgbClr val="FF5F05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id="{CF14AE48-94C2-FE8D-59FC-A35B46B794EC}"/>
                </a:ext>
              </a:extLst>
            </p:cNvPr>
            <p:cNvSpPr txBox="1"/>
            <p:nvPr/>
          </p:nvSpPr>
          <p:spPr>
            <a:xfrm>
              <a:off x="7697741" y="3052188"/>
              <a:ext cx="1297150" cy="30777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en-US" altLang="zh-CN" sz="1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(</a:t>
              </a:r>
              <a:r>
                <a:rPr lang="zh-CN" altLang="en-US" sz="1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 ＋ 　</a:t>
              </a:r>
              <a:r>
                <a:rPr lang="en-US" altLang="zh-CN" sz="1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)</a:t>
              </a:r>
              <a:r>
                <a:rPr lang="zh-CN" altLang="en-US" sz="14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　</a:t>
              </a:r>
              <a:endParaRPr lang="zh-CN" altLang="en-US" sz="14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08" name="椭圆 107">
              <a:extLst>
                <a:ext uri="{FF2B5EF4-FFF2-40B4-BE49-F238E27FC236}">
                  <a16:creationId xmlns:a16="http://schemas.microsoft.com/office/drawing/2014/main" id="{F15650A2-79CB-8317-B48D-84416B91FDB6}"/>
                </a:ext>
              </a:extLst>
            </p:cNvPr>
            <p:cNvSpPr/>
            <p:nvPr/>
          </p:nvSpPr>
          <p:spPr>
            <a:xfrm>
              <a:off x="7854286" y="3090714"/>
              <a:ext cx="227526" cy="227526"/>
            </a:xfrm>
            <a:prstGeom prst="ellipse">
              <a:avLst/>
            </a:prstGeom>
            <a:solidFill>
              <a:srgbClr val="C7994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10</a:t>
              </a:r>
              <a:endParaRPr lang="zh-CN" altLang="en-US" sz="11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09" name="椭圆 108">
              <a:extLst>
                <a:ext uri="{FF2B5EF4-FFF2-40B4-BE49-F238E27FC236}">
                  <a16:creationId xmlns:a16="http://schemas.microsoft.com/office/drawing/2014/main" id="{948E66EA-2F2A-6020-2E96-652540CD4DF6}"/>
                </a:ext>
              </a:extLst>
            </p:cNvPr>
            <p:cNvSpPr/>
            <p:nvPr/>
          </p:nvSpPr>
          <p:spPr>
            <a:xfrm>
              <a:off x="8243140" y="3090714"/>
              <a:ext cx="227526" cy="227526"/>
            </a:xfrm>
            <a:prstGeom prst="ellipse">
              <a:avLst/>
            </a:prstGeom>
            <a:solidFill>
              <a:srgbClr val="E7131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sz="1100" b="1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2</a:t>
              </a:r>
              <a:endParaRPr lang="zh-CN" altLang="en-US" sz="1100" b="1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112" name="文本框 111">
              <a:extLst>
                <a:ext uri="{FF2B5EF4-FFF2-40B4-BE49-F238E27FC236}">
                  <a16:creationId xmlns:a16="http://schemas.microsoft.com/office/drawing/2014/main" id="{B6B812B2-9360-7A60-1E8F-40B4E0FF001D}"/>
                </a:ext>
              </a:extLst>
            </p:cNvPr>
            <p:cNvSpPr txBox="1"/>
            <p:nvPr/>
          </p:nvSpPr>
          <p:spPr>
            <a:xfrm>
              <a:off x="9197569" y="5822922"/>
              <a:ext cx="1467389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Final Answer:</a:t>
              </a:r>
            </a:p>
            <a:p>
              <a:pPr algn="ctr"/>
              <a:r>
                <a:rPr lang="en-US" altLang="zh-CN" b="1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LUMETTA</a:t>
              </a:r>
              <a:endParaRPr lang="zh-CN" altLang="en-US" b="1">
                <a:solidFill>
                  <a:srgbClr val="FE552F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pic>
          <p:nvPicPr>
            <p:cNvPr id="3" name="图片 2" descr="穿着蓝色衣服的男人在微笑&#10;&#10;AI 生成的内容可能不正确。">
              <a:extLst>
                <a:ext uri="{FF2B5EF4-FFF2-40B4-BE49-F238E27FC236}">
                  <a16:creationId xmlns:a16="http://schemas.microsoft.com/office/drawing/2014/main" id="{CEBFC687-64A6-598E-AA9B-8D13E940607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54115" y="5435091"/>
              <a:ext cx="1229509" cy="1229509"/>
            </a:xfrm>
            <a:prstGeom prst="rect">
              <a:avLst/>
            </a:prstGeom>
          </p:spPr>
        </p:pic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4A48A49C-EAA8-1AA0-99B6-20715DF23890}"/>
                </a:ext>
              </a:extLst>
            </p:cNvPr>
            <p:cNvSpPr txBox="1"/>
            <p:nvPr/>
          </p:nvSpPr>
          <p:spPr>
            <a:xfrm>
              <a:off x="296156" y="257987"/>
              <a:ext cx="2588395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Extract the letters in the full name of the school from the specified positions by the numbers.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415E3A65-9104-8E23-BB5B-65B11F39B449}"/>
                </a:ext>
              </a:extLst>
            </p:cNvPr>
            <p:cNvSpPr txBox="1"/>
            <p:nvPr/>
          </p:nvSpPr>
          <p:spPr>
            <a:xfrm>
              <a:off x="9344047" y="3076517"/>
              <a:ext cx="229870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Answer:</a:t>
              </a:r>
            </a:p>
            <a:p>
              <a:r>
                <a:rPr lang="en-US" altLang="zh-CN" b="1">
                  <a:solidFill>
                    <a:srgbClr val="FF5F05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1 000 000 000 000</a:t>
              </a:r>
            </a:p>
            <a:p>
              <a:r>
                <a:rPr lang="zh-CN" altLang="en-US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→ </a:t>
              </a:r>
              <a:r>
                <a:rPr lang="en-US" altLang="zh-CN" b="1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T</a:t>
              </a:r>
              <a:r>
                <a:rPr lang="en-US" altLang="zh-CN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in META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0956E5F4-6FF5-E809-611C-8170F07A9F54}"/>
                </a:ext>
              </a:extLst>
            </p:cNvPr>
            <p:cNvSpPr txBox="1"/>
            <p:nvPr/>
          </p:nvSpPr>
          <p:spPr>
            <a:xfrm>
              <a:off x="594664" y="2305604"/>
              <a:ext cx="2388221" cy="36899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Ａ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Engl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i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sh Building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Ｂ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Lincol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n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Hall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Ｃ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Al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t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geld Hall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Ｄ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Gr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gory Hall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Ｅ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Smith Memo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r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ial Hall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Ｆ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Noye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s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Laboratory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Ｇ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H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nry Administration</a:t>
              </a:r>
              <a:r>
                <a:rPr lang="zh-CN" altLang="en-US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</a:t>
              </a:r>
              <a:endParaRPr lang="en-US" altLang="zh-CN" sz="1400">
                <a:solidFill>
                  <a:srgbClr val="13294B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Building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Ｈ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Literatures, 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C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ultures, 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　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and Linguistics Building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Ｉ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Na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t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ural History Building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Ｊ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I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llini Union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Ｋ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F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o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ellinger Auditorium</a:t>
              </a:r>
            </a:p>
            <a:p>
              <a:pPr>
                <a:lnSpc>
                  <a:spcPct val="120000"/>
                </a:lnSpc>
              </a:pPr>
              <a:r>
                <a:rPr lang="zh-CN" altLang="en-US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Ｌ</a:t>
              </a:r>
              <a:r>
                <a:rPr lang="en-US" altLang="zh-CN" sz="14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Dave</a:t>
              </a:r>
              <a:r>
                <a:rPr lang="en-US" altLang="zh-CN" sz="1400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n</a:t>
              </a:r>
              <a:r>
                <a:rPr lang="en-US" altLang="zh-CN" sz="14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port Hall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1B7ACAD4-DBAB-D5A8-1790-F34B7D6CE42E}"/>
                </a:ext>
              </a:extLst>
            </p:cNvPr>
            <p:cNvSpPr txBox="1"/>
            <p:nvPr/>
          </p:nvSpPr>
          <p:spPr>
            <a:xfrm>
              <a:off x="178777" y="5987650"/>
              <a:ext cx="315256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Answer:</a:t>
              </a:r>
              <a:endParaRPr lang="en-US" altLang="zh-CN" sz="1600" b="1">
                <a:solidFill>
                  <a:srgbClr val="FF5F05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  <a:p>
              <a:r>
                <a:rPr lang="en-US" altLang="zh-CN" sz="1600" b="1">
                  <a:solidFill>
                    <a:srgbClr val="FF5F05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INTERSECTION </a:t>
              </a:r>
            </a:p>
            <a:p>
              <a:r>
                <a:rPr lang="zh-CN" altLang="en-US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→ </a:t>
              </a:r>
              <a:r>
                <a:rPr lang="zh-CN" altLang="en-US" sz="1600" b="1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∩</a:t>
              </a:r>
              <a:r>
                <a:rPr lang="en-US" altLang="zh-CN" sz="16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in META (upside-down)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62E43761-E579-9C84-B89B-27430F6B3BD5}"/>
                </a:ext>
              </a:extLst>
            </p:cNvPr>
            <p:cNvSpPr txBox="1"/>
            <p:nvPr/>
          </p:nvSpPr>
          <p:spPr>
            <a:xfrm>
              <a:off x="6472012" y="5800888"/>
              <a:ext cx="2803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L</a:t>
              </a:r>
              <a:endParaRPr lang="zh-CN" altLang="en-US" sz="2000" b="1">
                <a:solidFill>
                  <a:srgbClr val="FE552F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131B04FF-54F4-FDD9-79B1-895024CF1DD4}"/>
                </a:ext>
              </a:extLst>
            </p:cNvPr>
            <p:cNvSpPr txBox="1"/>
            <p:nvPr/>
          </p:nvSpPr>
          <p:spPr>
            <a:xfrm>
              <a:off x="7115735" y="5805660"/>
              <a:ext cx="2803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U</a:t>
              </a:r>
              <a:endParaRPr lang="zh-CN" altLang="en-US" sz="2000" b="1">
                <a:solidFill>
                  <a:srgbClr val="FE552F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80322E38-01CF-6486-312D-D903AAB3A9FF}"/>
                </a:ext>
              </a:extLst>
            </p:cNvPr>
            <p:cNvSpPr txBox="1"/>
            <p:nvPr/>
          </p:nvSpPr>
          <p:spPr>
            <a:xfrm>
              <a:off x="8158250" y="5800888"/>
              <a:ext cx="280356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T</a:t>
              </a:r>
              <a:endParaRPr lang="zh-CN" altLang="en-US" sz="2000" b="1">
                <a:solidFill>
                  <a:srgbClr val="FE552F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4E4423DC-CD04-1C13-D115-B1E1DB9C5C54}"/>
                </a:ext>
              </a:extLst>
            </p:cNvPr>
            <p:cNvSpPr txBox="1"/>
            <p:nvPr/>
          </p:nvSpPr>
          <p:spPr>
            <a:xfrm>
              <a:off x="7524121" y="5839336"/>
              <a:ext cx="61770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ME</a:t>
              </a:r>
              <a:endParaRPr lang="zh-CN" altLang="en-US" sz="2000" b="1">
                <a:solidFill>
                  <a:srgbClr val="FE552F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1351DC5F-9DF3-46EB-2521-661B45148CAB}"/>
                </a:ext>
              </a:extLst>
            </p:cNvPr>
            <p:cNvSpPr txBox="1"/>
            <p:nvPr/>
          </p:nvSpPr>
          <p:spPr>
            <a:xfrm>
              <a:off x="8535355" y="5831666"/>
              <a:ext cx="46744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b="1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TA</a:t>
              </a:r>
              <a:endParaRPr lang="zh-CN" altLang="en-US" sz="2000" b="1">
                <a:solidFill>
                  <a:srgbClr val="FE552F"/>
                </a:solidFill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255CAE8-3875-090C-6159-861F2EBDA799}"/>
                </a:ext>
              </a:extLst>
            </p:cNvPr>
            <p:cNvSpPr txBox="1"/>
            <p:nvPr/>
          </p:nvSpPr>
          <p:spPr>
            <a:xfrm>
              <a:off x="9151918" y="4224337"/>
              <a:ext cx="304008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6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These</a:t>
              </a:r>
              <a:r>
                <a:rPr lang="zh-CN" altLang="en-US" sz="16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</a:t>
              </a:r>
              <a:r>
                <a:rPr lang="en-US" altLang="zh-CN" sz="16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shapes show where the letters from. Specifically, the separated rectangle comes from META itself, so fill in </a:t>
              </a:r>
              <a:r>
                <a:rPr lang="en-US" altLang="zh-CN" sz="16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ME</a:t>
              </a:r>
              <a:r>
                <a:rPr lang="en-US" altLang="zh-CN" sz="16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 and </a:t>
              </a:r>
              <a:r>
                <a:rPr lang="en-US" altLang="zh-CN" sz="1600" b="1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TA</a:t>
              </a:r>
              <a:r>
                <a:rPr lang="en-US" altLang="zh-CN" sz="1600">
                  <a:solidFill>
                    <a:srgbClr val="13294B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.</a:t>
              </a: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C08643D6-0B2F-1AFB-B28E-F061B0CFA11F}"/>
                </a:ext>
              </a:extLst>
            </p:cNvPr>
            <p:cNvSpPr/>
            <p:nvPr/>
          </p:nvSpPr>
          <p:spPr>
            <a:xfrm rot="21224692">
              <a:off x="9781880" y="360567"/>
              <a:ext cx="1936272" cy="975704"/>
            </a:xfrm>
            <a:prstGeom prst="rect">
              <a:avLst/>
            </a:prstGeom>
            <a:noFill/>
            <a:ln w="38100">
              <a:solidFill>
                <a:srgbClr val="FE552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ANSWER</a:t>
              </a:r>
            </a:p>
            <a:p>
              <a:pPr algn="ctr"/>
              <a:r>
                <a:rPr lang="en-US" altLang="zh-CN" b="1">
                  <a:solidFill>
                    <a:srgbClr val="FE552F"/>
                  </a:solidFill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&amp; EXPLANATION</a:t>
              </a: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70FBB06C-578F-8280-F3F3-F534E210E950}"/>
                </a:ext>
              </a:extLst>
            </p:cNvPr>
            <p:cNvSpPr txBox="1"/>
            <p:nvPr/>
          </p:nvSpPr>
          <p:spPr>
            <a:xfrm>
              <a:off x="4153102" y="3314093"/>
              <a:ext cx="120738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10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Sorry Harker Hall</a:t>
              </a:r>
            </a:p>
            <a:p>
              <a:pPr algn="ctr"/>
              <a:r>
                <a:rPr lang="en-US" altLang="zh-CN" sz="1000">
                  <a:latin typeface="思源黑体 CN" panose="020B0500000000000000" pitchFamily="34" charset="-122"/>
                  <a:ea typeface="思源黑体 CN" panose="020B0500000000000000" pitchFamily="34" charset="-122"/>
                </a:rPr>
                <a:t>I omitted you</a:t>
              </a:r>
              <a:endParaRPr lang="zh-CN" altLang="en-US" sz="1000">
                <a:latin typeface="思源黑体 CN" panose="020B0500000000000000" pitchFamily="34" charset="-122"/>
                <a:ea typeface="思源黑体 CN" panose="020B0500000000000000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5965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ctr">
          <a:defRPr sz="2000" b="1" smtClean="0">
            <a:latin typeface="思源黑体 CN" panose="020B0500000000000000" pitchFamily="34" charset="-122"/>
            <a:ea typeface="思源黑体 CN" panose="020B0500000000000000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382</Words>
  <Application>Microsoft Office PowerPoint</Application>
  <PresentationFormat>宽屏</PresentationFormat>
  <Paragraphs>97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8" baseType="lpstr">
      <vt:lpstr>等线</vt:lpstr>
      <vt:lpstr>等线 Light</vt:lpstr>
      <vt:lpstr>思源黑体 CN</vt:lpstr>
      <vt:lpstr>思源黑体 CN Heavy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Zheng, Xinyi</dc:creator>
  <cp:lastModifiedBy>Zheng, Xinyi</cp:lastModifiedBy>
  <cp:revision>6</cp:revision>
  <dcterms:created xsi:type="dcterms:W3CDTF">2025-09-01T04:26:02Z</dcterms:created>
  <dcterms:modified xsi:type="dcterms:W3CDTF">2025-09-01T18:09:39Z</dcterms:modified>
</cp:coreProperties>
</file>