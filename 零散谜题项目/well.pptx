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A90F"/>
    <a:srgbClr val="93D412"/>
    <a:srgbClr val="EB6941"/>
    <a:srgbClr val="C65E18"/>
    <a:srgbClr val="F3782D"/>
    <a:srgbClr val="CD920D"/>
    <a:srgbClr val="FFFFFF"/>
    <a:srgbClr val="F3BD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43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53B8A-FFFC-F502-F401-DE5B5CBB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92E295-7FEE-D161-3AB0-46B1618A6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7C86BB-3FDD-FB7F-30C8-1AFA36B1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CF0CE7-B8F3-F165-B549-037D2B6A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4B966E-3CE7-C9D8-F75A-BE3425B5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730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DC209-2272-87E1-901B-9379D3C3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09D89-376E-9A59-41B3-54CADA307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BFC476-703C-85BC-00C3-980F32A4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33AB78-24A5-1E09-9DEF-8F90B844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25F17F-CB77-1D05-128E-730DF771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77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172DF-655A-2105-7818-4F4CAB8D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C62036-C0AF-B914-954B-A2710CC6D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F4B4B6-A7CC-767A-75E3-1AD02249A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BDE5C-9796-3A55-B519-6CDAFFA1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65FA5-08AB-C1F8-36E5-1C332B8A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82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7048B-CCE2-D3CC-894F-A3E34C76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91F910-927E-8B1C-767C-D8354F697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A22703-E7D1-9190-BCDA-23E094079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F1488A-AFDE-7522-DA11-192271B74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274866-AEBB-90C8-5B12-74F5ABEA3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2B9F7A-8DE6-38D7-42EB-4425BBF2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54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91670-3A23-ED6C-F6C5-15E4B0B86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1BD485-4549-8B04-F73B-BA55BC8BC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CEE80-6F15-96D9-2B6E-AA326128F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1D9121-EFD1-793F-8E4D-659A47956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F01E81-D94A-DB96-E222-6CD344155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8C4407-FB67-551B-8455-24D7F537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8A3562-7A8E-27CF-B043-B7814895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E68688-7542-80A0-F2BC-8540B8E9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06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FC8D9-6D22-E1EB-D3C8-90A91BFD7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007BD4-EBD6-2459-D1CA-78CDF2CF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5A522D-6BDD-5EC5-5251-90F572791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E73CFC-4D11-0819-C03A-A5BF264C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262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E347DF-72D5-83C7-2237-D7E67547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A406A8-79F3-EF3D-7FE9-C0174F41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F52F9A-FEB8-7952-5C68-9DC90D6E0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57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04ACC-BDB7-2D7F-C1DF-33098A023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4D9C55-4F60-D5D7-9C16-6C59362B9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4732FC-3865-3514-7BBC-53620CD45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CBFF47-E90E-68BC-E18A-111E4B518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C5712E-E51E-9EEF-4B44-65383B56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74ACEE-49D1-79F5-E7C6-9631E8B4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184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1912A-92C2-BE2A-0361-18ED5FBD0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BC3B8E-EB3E-85C8-F9F1-4B449D3E2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E323FC-BCE8-D1C7-9FB2-D814E8D00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7EBDC6-B8F1-351E-E58E-8D6A1E74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1AA701-5D1A-993C-380B-B5980E3A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BFE16C-CF99-95F9-B6E2-56863EB0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489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82F39-788E-BD52-74D4-EEDCB320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C9DC33-4C26-D02E-B89C-1CD7B6355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660E03-76BF-4D1B-D5BB-8C9E6CFE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47E189-CBB7-1343-0DC6-93069237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4E0636-E3EC-CE20-DFDF-D4872902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643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EC4FD7-2315-568A-9715-E1C2ACF4C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FB8341-5E39-D705-F652-D037AEF83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6F7D2E-8B44-76D5-DBE3-1BE0596A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F6D4B-8710-187A-5AAF-7AF55601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3233E7-09BC-B99A-A4C3-88454632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82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F8DCAE-813D-4CFD-F4C2-3B99C6C9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083ABB-55B6-C968-0CC2-E8D6F6812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F10F4C-C44B-C11D-0040-064480061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AB1EF-793D-441A-8B25-CFF4308795F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5DA14-A1C2-F0E8-BCDB-7F9CC2A27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D36E52-F21C-6CE7-6D26-D3D4524AB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10F7B-3E99-4EEF-AC0B-4D9E8254F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97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3620E57-CE1F-DE66-4BC2-CB7D2CCF3723}"/>
              </a:ext>
            </a:extLst>
          </p:cNvPr>
          <p:cNvSpPr/>
          <p:nvPr/>
        </p:nvSpPr>
        <p:spPr>
          <a:xfrm>
            <a:off x="3047999" y="1386840"/>
            <a:ext cx="475881" cy="594300"/>
          </a:xfrm>
          <a:prstGeom prst="roundRect">
            <a:avLst/>
          </a:prstGeom>
          <a:solidFill>
            <a:srgbClr val="CD92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9C1E8B-F989-6F3E-8C78-1D2E78CBF9DE}"/>
              </a:ext>
            </a:extLst>
          </p:cNvPr>
          <p:cNvSpPr txBox="1"/>
          <p:nvPr/>
        </p:nvSpPr>
        <p:spPr>
          <a:xfrm>
            <a:off x="3523881" y="1330047"/>
            <a:ext cx="24256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(</a:t>
            </a:r>
            <a:r>
              <a:rPr lang="en-US" altLang="zh-CN" sz="4000" i="1"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x        x</a:t>
            </a:r>
            <a:r>
              <a:rPr lang="en-US" altLang="zh-CN" sz="4000"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) =</a:t>
            </a:r>
            <a:endParaRPr lang="zh-CN" altLang="en-US" sz="4000"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1031C8-3CA9-8364-A6B7-3A55D46A6F2A}"/>
              </a:ext>
            </a:extLst>
          </p:cNvPr>
          <p:cNvSpPr txBox="1"/>
          <p:nvPr/>
        </p:nvSpPr>
        <p:spPr>
          <a:xfrm>
            <a:off x="6885873" y="1332721"/>
            <a:ext cx="18982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i="1"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x, x &gt; </a:t>
            </a:r>
            <a:r>
              <a:rPr lang="en-US" altLang="zh-CN" sz="4000"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1/</a:t>
            </a:r>
            <a:endParaRPr lang="zh-CN" altLang="en-US" sz="4000"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1122A02-56EB-5451-C749-7145B18EA50F}"/>
              </a:ext>
            </a:extLst>
          </p:cNvPr>
          <p:cNvGrpSpPr/>
          <p:nvPr/>
        </p:nvGrpSpPr>
        <p:grpSpPr>
          <a:xfrm>
            <a:off x="4124836" y="1386840"/>
            <a:ext cx="795869" cy="594300"/>
            <a:chOff x="4953694" y="1307916"/>
            <a:chExt cx="795869" cy="796412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9C88450-FB62-1D91-DA2C-6303A9A76B86}"/>
                </a:ext>
              </a:extLst>
            </p:cNvPr>
            <p:cNvSpPr/>
            <p:nvPr/>
          </p:nvSpPr>
          <p:spPr>
            <a:xfrm>
              <a:off x="4953694" y="1307916"/>
              <a:ext cx="795869" cy="796412"/>
            </a:xfrm>
            <a:prstGeom prst="roundRect">
              <a:avLst/>
            </a:prstGeom>
            <a:solidFill>
              <a:srgbClr val="EB69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38106D9-BA5C-8E25-3C86-4ECFFC57DE97}"/>
                </a:ext>
              </a:extLst>
            </p:cNvPr>
            <p:cNvCxnSpPr>
              <a:cxnSpLocks/>
            </p:cNvCxnSpPr>
            <p:nvPr/>
          </p:nvCxnSpPr>
          <p:spPr>
            <a:xfrm>
              <a:off x="5216858" y="1307916"/>
              <a:ext cx="0" cy="796412"/>
            </a:xfrm>
            <a:prstGeom prst="line">
              <a:avLst/>
            </a:prstGeom>
            <a:ln cap="sq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1992FE3-A927-E294-EE95-6C896B57FF7E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00" y="1307916"/>
              <a:ext cx="0" cy="796412"/>
            </a:xfrm>
            <a:prstGeom prst="line">
              <a:avLst/>
            </a:prstGeom>
            <a:ln cap="sq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1F6B818-8712-C3F3-C8FA-C51BD6ED24B3}"/>
              </a:ext>
            </a:extLst>
          </p:cNvPr>
          <p:cNvGrpSpPr/>
          <p:nvPr/>
        </p:nvGrpSpPr>
        <p:grpSpPr>
          <a:xfrm>
            <a:off x="6020117" y="1389514"/>
            <a:ext cx="795869" cy="594300"/>
            <a:chOff x="4953694" y="1307916"/>
            <a:chExt cx="795869" cy="796412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208ED69-DBE6-D4F8-5C9A-86DADE2591CA}"/>
                </a:ext>
              </a:extLst>
            </p:cNvPr>
            <p:cNvSpPr/>
            <p:nvPr/>
          </p:nvSpPr>
          <p:spPr>
            <a:xfrm>
              <a:off x="4953694" y="1307916"/>
              <a:ext cx="795869" cy="796412"/>
            </a:xfrm>
            <a:prstGeom prst="roundRect">
              <a:avLst/>
            </a:prstGeom>
            <a:solidFill>
              <a:srgbClr val="EB69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EDF0C2B-4923-783B-635E-82EFAB99AC7C}"/>
                </a:ext>
              </a:extLst>
            </p:cNvPr>
            <p:cNvCxnSpPr>
              <a:cxnSpLocks/>
            </p:cNvCxnSpPr>
            <p:nvPr/>
          </p:nvCxnSpPr>
          <p:spPr>
            <a:xfrm>
              <a:off x="5216858" y="1307916"/>
              <a:ext cx="0" cy="796412"/>
            </a:xfrm>
            <a:prstGeom prst="line">
              <a:avLst/>
            </a:prstGeom>
            <a:ln cap="sq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371A1D4F-E044-1098-9602-0AAD305F3A4E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00" y="1307916"/>
              <a:ext cx="0" cy="796412"/>
            </a:xfrm>
            <a:prstGeom prst="line">
              <a:avLst/>
            </a:prstGeom>
            <a:ln cap="sq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6332BE0-BCEB-1AC8-85D0-195AF7E622F2}"/>
              </a:ext>
            </a:extLst>
          </p:cNvPr>
          <p:cNvSpPr/>
          <p:nvPr/>
        </p:nvSpPr>
        <p:spPr>
          <a:xfrm>
            <a:off x="3707367" y="2649709"/>
            <a:ext cx="475881" cy="594300"/>
          </a:xfrm>
          <a:prstGeom prst="roundRect">
            <a:avLst/>
          </a:prstGeom>
          <a:solidFill>
            <a:srgbClr val="CD92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1AAD237-7CCD-EFCD-E702-0016C7F3DB96}"/>
              </a:ext>
            </a:extLst>
          </p:cNvPr>
          <p:cNvGrpSpPr/>
          <p:nvPr/>
        </p:nvGrpSpPr>
        <p:grpSpPr>
          <a:xfrm>
            <a:off x="4223502" y="2649709"/>
            <a:ext cx="795869" cy="594300"/>
            <a:chOff x="4953694" y="1307916"/>
            <a:chExt cx="795869" cy="796412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557BFDD1-A609-30A1-BF93-34C787F60774}"/>
                </a:ext>
              </a:extLst>
            </p:cNvPr>
            <p:cNvSpPr/>
            <p:nvPr/>
          </p:nvSpPr>
          <p:spPr>
            <a:xfrm>
              <a:off x="4953694" y="1307916"/>
              <a:ext cx="795869" cy="796412"/>
            </a:xfrm>
            <a:prstGeom prst="roundRect">
              <a:avLst/>
            </a:prstGeom>
            <a:solidFill>
              <a:srgbClr val="EB69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406DE70-1D9C-5169-261A-7E6617076D11}"/>
                </a:ext>
              </a:extLst>
            </p:cNvPr>
            <p:cNvCxnSpPr>
              <a:cxnSpLocks/>
            </p:cNvCxnSpPr>
            <p:nvPr/>
          </p:nvCxnSpPr>
          <p:spPr>
            <a:xfrm>
              <a:off x="5216858" y="1307916"/>
              <a:ext cx="0" cy="796412"/>
            </a:xfrm>
            <a:prstGeom prst="line">
              <a:avLst/>
            </a:prstGeom>
            <a:ln cap="sq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2535766F-8E90-47C4-E5BF-9D0128ADFDC1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00" y="1307916"/>
              <a:ext cx="0" cy="796412"/>
            </a:xfrm>
            <a:prstGeom prst="line">
              <a:avLst/>
            </a:prstGeom>
            <a:ln cap="sq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12070731-86B7-2E7D-9AA8-640EF1B5DA71}"/>
              </a:ext>
            </a:extLst>
          </p:cNvPr>
          <p:cNvSpPr txBox="1"/>
          <p:nvPr/>
        </p:nvSpPr>
        <p:spPr>
          <a:xfrm>
            <a:off x="5138975" y="2685249"/>
            <a:ext cx="3277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思源宋体 CN" panose="02020400000000000000" pitchFamily="18" charset="-122"/>
                <a:ea typeface="思源宋体 CN" panose="02020400000000000000" pitchFamily="18" charset="-122"/>
                <a:cs typeface="Times New Roman" panose="02020603050405020304" pitchFamily="18" charset="0"/>
              </a:rPr>
              <a:t>∈  数学证明常用语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EDD9BF2-2A50-FB5F-7833-AA7999415867}"/>
              </a:ext>
            </a:extLst>
          </p:cNvPr>
          <p:cNvSpPr txBox="1"/>
          <p:nvPr/>
        </p:nvSpPr>
        <p:spPr>
          <a:xfrm>
            <a:off x="5880047" y="3855785"/>
            <a:ext cx="1493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思源宋体 CN" panose="02020400000000000000" pitchFamily="18" charset="-122"/>
                <a:ea typeface="思源宋体 CN" panose="02020400000000000000" pitchFamily="18" charset="-122"/>
                <a:cs typeface="Times New Roman" panose="02020603050405020304" pitchFamily="18" charset="0"/>
              </a:rPr>
              <a:t>＝  </a:t>
            </a:r>
            <a:r>
              <a:rPr lang="en-US" altLang="zh-CN" sz="2800" b="1">
                <a:solidFill>
                  <a:srgbClr val="C000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  <a:cs typeface="Times New Roman" panose="02020603050405020304" pitchFamily="18" charset="0"/>
              </a:rPr>
              <a:t>????</a:t>
            </a:r>
            <a:endParaRPr lang="zh-CN" altLang="en-US" sz="2800" b="1">
              <a:solidFill>
                <a:srgbClr val="C00000"/>
              </a:solidFill>
              <a:latin typeface="思源宋体 CN" panose="02020400000000000000" pitchFamily="18" charset="-122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382D8AC-D7B3-C2F7-C798-5A2765470F67}"/>
              </a:ext>
            </a:extLst>
          </p:cNvPr>
          <p:cNvSpPr/>
          <p:nvPr/>
        </p:nvSpPr>
        <p:spPr>
          <a:xfrm>
            <a:off x="8705494" y="1386840"/>
            <a:ext cx="304787" cy="594300"/>
          </a:xfrm>
          <a:prstGeom prst="roundRect">
            <a:avLst/>
          </a:prstGeom>
          <a:solidFill>
            <a:srgbClr val="97A9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51F1AF6-73D9-FC49-6D64-03092433BFF6}"/>
              </a:ext>
            </a:extLst>
          </p:cNvPr>
          <p:cNvSpPr/>
          <p:nvPr/>
        </p:nvSpPr>
        <p:spPr>
          <a:xfrm>
            <a:off x="4906497" y="3820245"/>
            <a:ext cx="304787" cy="594300"/>
          </a:xfrm>
          <a:prstGeom prst="roundRect">
            <a:avLst/>
          </a:prstGeom>
          <a:solidFill>
            <a:srgbClr val="97A9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106EF88-12E6-7F1A-A77D-DBCABE50BE78}"/>
              </a:ext>
            </a:extLst>
          </p:cNvPr>
          <p:cNvSpPr/>
          <p:nvPr/>
        </p:nvSpPr>
        <p:spPr>
          <a:xfrm>
            <a:off x="4393687" y="3820245"/>
            <a:ext cx="475881" cy="594300"/>
          </a:xfrm>
          <a:prstGeom prst="roundRect">
            <a:avLst/>
          </a:prstGeom>
          <a:solidFill>
            <a:srgbClr val="CD92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405EAC6B-292B-706E-DE20-E273B8B0B833}"/>
              </a:ext>
            </a:extLst>
          </p:cNvPr>
          <p:cNvSpPr/>
          <p:nvPr/>
        </p:nvSpPr>
        <p:spPr>
          <a:xfrm>
            <a:off x="5248213" y="3820245"/>
            <a:ext cx="263163" cy="594300"/>
          </a:xfrm>
          <a:custGeom>
            <a:avLst/>
            <a:gdLst>
              <a:gd name="csX0" fmla="*/ 99052 w 263163"/>
              <a:gd name="csY0" fmla="*/ 0 h 594300"/>
              <a:gd name="csX1" fmla="*/ 263163 w 263163"/>
              <a:gd name="csY1" fmla="*/ 0 h 594300"/>
              <a:gd name="csX2" fmla="*/ 263163 w 263163"/>
              <a:gd name="csY2" fmla="*/ 594300 h 594300"/>
              <a:gd name="csX3" fmla="*/ 99052 w 263163"/>
              <a:gd name="csY3" fmla="*/ 594300 h 594300"/>
              <a:gd name="csX4" fmla="*/ 0 w 263163"/>
              <a:gd name="csY4" fmla="*/ 495248 h 594300"/>
              <a:gd name="csX5" fmla="*/ 0 w 263163"/>
              <a:gd name="csY5" fmla="*/ 99052 h 594300"/>
              <a:gd name="csX6" fmla="*/ 99052 w 263163"/>
              <a:gd name="csY6" fmla="*/ 0 h 59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3163" h="594300">
                <a:moveTo>
                  <a:pt x="99052" y="0"/>
                </a:moveTo>
                <a:lnTo>
                  <a:pt x="263163" y="0"/>
                </a:lnTo>
                <a:lnTo>
                  <a:pt x="263163" y="594300"/>
                </a:lnTo>
                <a:lnTo>
                  <a:pt x="99052" y="594300"/>
                </a:lnTo>
                <a:cubicBezTo>
                  <a:pt x="44347" y="594300"/>
                  <a:pt x="0" y="549953"/>
                  <a:pt x="0" y="495248"/>
                </a:cubicBezTo>
                <a:lnTo>
                  <a:pt x="0" y="99052"/>
                </a:lnTo>
                <a:cubicBezTo>
                  <a:pt x="0" y="44347"/>
                  <a:pt x="44347" y="0"/>
                  <a:pt x="99052" y="0"/>
                </a:cubicBezTo>
                <a:close/>
              </a:path>
            </a:pathLst>
          </a:custGeom>
          <a:solidFill>
            <a:srgbClr val="EB6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E2F7794-3CD5-FFE0-2081-490BE1308780}"/>
              </a:ext>
            </a:extLst>
          </p:cNvPr>
          <p:cNvSpPr/>
          <p:nvPr/>
        </p:nvSpPr>
        <p:spPr>
          <a:xfrm>
            <a:off x="5548304" y="3820245"/>
            <a:ext cx="263163" cy="594300"/>
          </a:xfrm>
          <a:custGeom>
            <a:avLst/>
            <a:gdLst>
              <a:gd name="csX0" fmla="*/ 99052 w 263163"/>
              <a:gd name="csY0" fmla="*/ 0 h 594300"/>
              <a:gd name="csX1" fmla="*/ 263163 w 263163"/>
              <a:gd name="csY1" fmla="*/ 0 h 594300"/>
              <a:gd name="csX2" fmla="*/ 263163 w 263163"/>
              <a:gd name="csY2" fmla="*/ 594300 h 594300"/>
              <a:gd name="csX3" fmla="*/ 99052 w 263163"/>
              <a:gd name="csY3" fmla="*/ 594300 h 594300"/>
              <a:gd name="csX4" fmla="*/ 0 w 263163"/>
              <a:gd name="csY4" fmla="*/ 495248 h 594300"/>
              <a:gd name="csX5" fmla="*/ 0 w 263163"/>
              <a:gd name="csY5" fmla="*/ 99052 h 594300"/>
              <a:gd name="csX6" fmla="*/ 99052 w 263163"/>
              <a:gd name="csY6" fmla="*/ 0 h 59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3163" h="594300">
                <a:moveTo>
                  <a:pt x="99052" y="0"/>
                </a:moveTo>
                <a:lnTo>
                  <a:pt x="263163" y="0"/>
                </a:lnTo>
                <a:lnTo>
                  <a:pt x="263163" y="594300"/>
                </a:lnTo>
                <a:lnTo>
                  <a:pt x="99052" y="594300"/>
                </a:lnTo>
                <a:cubicBezTo>
                  <a:pt x="44347" y="594300"/>
                  <a:pt x="0" y="549953"/>
                  <a:pt x="0" y="495248"/>
                </a:cubicBezTo>
                <a:lnTo>
                  <a:pt x="0" y="99052"/>
                </a:lnTo>
                <a:cubicBezTo>
                  <a:pt x="0" y="44347"/>
                  <a:pt x="44347" y="0"/>
                  <a:pt x="99052" y="0"/>
                </a:cubicBezTo>
                <a:close/>
              </a:path>
            </a:pathLst>
          </a:custGeom>
          <a:solidFill>
            <a:srgbClr val="EB6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010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</TotalTime>
  <Words>18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思源宋体 CN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XY Zheng</dc:creator>
  <cp:lastModifiedBy>XY Zheng</cp:lastModifiedBy>
  <cp:revision>2</cp:revision>
  <dcterms:created xsi:type="dcterms:W3CDTF">2026-05-17T16:07:09Z</dcterms:created>
  <dcterms:modified xsi:type="dcterms:W3CDTF">2026-05-18T02:29:29Z</dcterms:modified>
</cp:coreProperties>
</file>